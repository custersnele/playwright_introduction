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ef324be2-fa44-5f55-42e7-cc82da78251f}">
          <p14:sldIdLst>
            <p14:sldId id="256"/>
            <p14:sldId id="257"/>
          </p14:sldIdLst>
        </p14:section>
        <p14:section name="SUT" id="{25870379-2110-b6ad-0022-d6f0508b0c31}">
          <p14:sldIdLst/>
        </p14:section>
        <p14:section name="Default-1" id="{9f01ac7c-da39-9c50-f8ad-c9eb971b8c6d}">
          <p14:sldIdLst>
            <p14:sldId id="258"/>
          </p14:sldIdLst>
        </p14:section>
        <p14:section name="Structure" id="{b90de97b-5b24-0615-b1d9-308fcba3a0b7}">
          <p14:sldIdLst/>
        </p14:section>
        <p14:section name="Default-2" id="{825ae39a-1521-126e-a8ee-18718bfb4fda}">
          <p14:sldIdLst>
            <p14:sldId id="259"/>
            <p14:sldId id="260"/>
            <p14:sldId id="261"/>
          </p14:sldIdLst>
        </p14:section>
        <p14:section name="Test data" id="{e8cb5592-6f76-6929-5d70-c8e15f5d64d3}">
          <p14:sldIdLst/>
        </p14:section>
        <p14:section name="Default-3" id="{0444adf6-9ca2-d8c3-d9d4-48e440802b79}">
          <p14:sldIdLst>
            <p14:sldId id="262"/>
          </p14:sldIdLst>
        </p14:section>
        <p14:section name="Ticket tests" id="{770a53aa-519c-4241-c9ce-71a2e90588d4}">
          <p14:sldIdLst/>
        </p14:section>
        <p14:section name="Default-4" id="{3c298343-9e13-6f7e-a8e0-485d1dcd555f}">
          <p14:sldIdLst>
            <p14:sldId id="263"/>
            <p14:sldId id="264"/>
          </p14:sldIdLst>
        </p14:section>
        <p14:section name="Inside the PDF" id="{a9131bca-c74a-8aaa-4c61-ca34b8e6117f}">
          <p14:sldIdLst/>
        </p14:section>
        <p14:section name="Default-5" id="{66f2215a-75b3-4536-ca9f-85a5938c80c2}">
          <p14:sldIdLst>
            <p14:sldId id="265"/>
            <p14:sldId id="266"/>
          </p14:sldIdLst>
        </p14:section>
        <p14:section name="Bug hunt" id="{f4a4f535-4435-2200-632e-96d838df349e}">
          <p14:sldIdLst/>
        </p14:section>
        <p14:section name="Default-6" id="{3252404c-3f2f-c286-3e07-f281243e044b}">
          <p14:sldIdLst>
            <p14:sldId id="267"/>
            <p14:sldId id="268"/>
          </p14:sldIdLst>
        </p14:section>
        <p14:section name="Wrap up" id="{d17c4106-08a9-070e-90cf-73b1659cd6c8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60604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4DD0E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8909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8909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Software Testing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606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4DD0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Best practices &amp; testing PDF tickets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student</a:t>
            </a:r>
            <a:endParaRPr lang="en-US" sz="2800" dirty="0"/>
          </a:p>
        </p:txBody>
      </p:sp>
      <p:sp>
        <p:nvSpPr>
          <p:cNvPr id="3" name="Number 1"/>
          <p:cNvSpPr/>
          <p:nvPr/>
        </p:nvSpPr>
        <p:spPr>
          <a:xfrm>
            <a:off x="457200" y="1417320"/>
            <a:ext cx="384048" cy="38404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Number label 1"/>
          <p:cNvSpPr txBox="1"/>
          <p:nvPr/>
        </p:nvSpPr>
        <p:spPr>
          <a:xfrm>
            <a:off x="45720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Goal 1"/>
          <p:cNvSpPr txBox="1"/>
          <p:nvPr/>
        </p:nvSpPr>
        <p:spPr>
          <a:xfrm>
            <a:off x="1051560" y="13716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</a:rPr>
              <a:t>Structures page objects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</a:rPr>
              <a:t>with a shared base page and pages that return the next page.</a:t>
            </a:r>
            <a:endParaRPr lang="en-US" sz="1600" dirty="0"/>
          </a:p>
        </p:txBody>
      </p:sp>
      <p:sp>
        <p:nvSpPr>
          <p:cNvPr id="6" name="Number 2"/>
          <p:cNvSpPr/>
          <p:nvPr/>
        </p:nvSpPr>
        <p:spPr>
          <a:xfrm>
            <a:off x="457200" y="2286000"/>
            <a:ext cx="384048" cy="38404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7" name="Number label 2"/>
          <p:cNvSpPr txBox="1"/>
          <p:nvPr/>
        </p:nvSpPr>
        <p:spPr>
          <a:xfrm>
            <a:off x="45720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Goal 2"/>
          <p:cNvSpPr txBox="1"/>
          <p:nvPr/>
        </p:nvSpPr>
        <p:spPr>
          <a:xfrm>
            <a:off x="1051560" y="22402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</a:rPr>
              <a:t>Replaces lifecycle boilerplate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</a:rPr>
              <a:t>by Playwright fixtures: @UsePlaywright instead of @BeforeAll and friends.</a:t>
            </a:r>
            <a:endParaRPr lang="en-US" sz="1600" dirty="0"/>
          </a:p>
        </p:txBody>
      </p:sp>
      <p:sp>
        <p:nvSpPr>
          <p:cNvPr id="9" name="Number 3"/>
          <p:cNvSpPr/>
          <p:nvPr/>
        </p:nvSpPr>
        <p:spPr>
          <a:xfrm>
            <a:off x="457200" y="3154680"/>
            <a:ext cx="384048" cy="38404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0" name="Number label 3"/>
          <p:cNvSpPr txBox="1"/>
          <p:nvPr/>
        </p:nvSpPr>
        <p:spPr>
          <a:xfrm>
            <a:off x="45720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Goal 3"/>
          <p:cNvSpPr txBox="1"/>
          <p:nvPr/>
        </p:nvSpPr>
        <p:spPr>
          <a:xfrm>
            <a:off x="1051560" y="31089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</a:rPr>
              <a:t>Designs test data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</a:rPr>
              <a:t>with a builder and a factory, where every type is a deliberate edge case.</a:t>
            </a:r>
            <a:endParaRPr lang="en-US" sz="1600" dirty="0"/>
          </a:p>
        </p:txBody>
      </p:sp>
      <p:sp>
        <p:nvSpPr>
          <p:cNvPr id="12" name="Number 4"/>
          <p:cNvSpPr/>
          <p:nvPr/>
        </p:nvSpPr>
        <p:spPr>
          <a:xfrm>
            <a:off x="457200" y="4023360"/>
            <a:ext cx="384048" cy="38404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3" name="Number label 4"/>
          <p:cNvSpPr txBox="1"/>
          <p:nvPr/>
        </p:nvSpPr>
        <p:spPr>
          <a:xfrm>
            <a:off x="45720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Goal 4"/>
          <p:cNvSpPr txBox="1"/>
          <p:nvPr/>
        </p:nvSpPr>
        <p:spPr>
          <a:xfrm>
            <a:off x="1051560" y="39776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</a:rPr>
              <a:t>Tests a PDF without a browser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</a:rPr>
              <a:t>text, structure, QR code and a pixel comparison, and finds hidden bugs.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8909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7A7"/>
                </a:solidFill>
              </a:rPr>
              <a:t>SYSTEM UNDER TEST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SUT now creates a PDF ticket</a:t>
            </a:r>
            <a:endParaRPr lang="en-US" sz="2800" dirty="0"/>
          </a:p>
        </p:txBody>
      </p:sp>
      <p:sp>
        <p:nvSpPr>
          <p:cNvPr id="4" name="Box Browser"/>
          <p:cNvSpPr/>
          <p:nvPr/>
        </p:nvSpPr>
        <p:spPr>
          <a:xfrm>
            <a:off x="457200" y="137160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5" name="Box text Browser"/>
          <p:cNvSpPr txBox="1"/>
          <p:nvPr/>
        </p:nvSpPr>
        <p:spPr>
          <a:xfrm>
            <a:off x="457200" y="13716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121"/>
                </a:solidFill>
              </a:rPr>
              <a:t>Browser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</a:t>
            </a:r>
            <a:endParaRPr lang="en-US" sz="1600" dirty="0"/>
          </a:p>
        </p:txBody>
      </p:sp>
      <p:sp>
        <p:nvSpPr>
          <p:cNvPr id="6" name="Box web (nginx)"/>
          <p:cNvSpPr/>
          <p:nvPr/>
        </p:nvSpPr>
        <p:spPr>
          <a:xfrm>
            <a:off x="3429000" y="137160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7" name="Box text web (nginx)"/>
          <p:cNvSpPr txBox="1"/>
          <p:nvPr/>
        </p:nvSpPr>
        <p:spPr>
          <a:xfrm>
            <a:off x="3429000" y="13716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121"/>
                </a:solidFill>
              </a:rPr>
              <a:t>web (nginx)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/app/*.html</a:t>
            </a:r>
            <a:endParaRPr lang="en-US" sz="1600" dirty="0"/>
          </a:p>
        </p:txBody>
      </p:sp>
      <p:sp>
        <p:nvSpPr>
          <p:cNvPr id="8" name="Box ticket-service"/>
          <p:cNvSpPr/>
          <p:nvPr/>
        </p:nvSpPr>
        <p:spPr>
          <a:xfrm>
            <a:off x="6400800" y="137160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9" name="Box text ticket-service"/>
          <p:cNvSpPr txBox="1"/>
          <p:nvPr/>
        </p:nvSpPr>
        <p:spPr>
          <a:xfrm>
            <a:off x="6400800" y="13716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121"/>
                </a:solidFill>
              </a:rPr>
              <a:t>ticket-service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/api/tickets</a:t>
            </a:r>
            <a:endParaRPr lang="en-US" sz="1600" dirty="0"/>
          </a:p>
        </p:txBody>
      </p:sp>
      <p:sp>
        <p:nvSpPr>
          <p:cNvPr id="10" name="Arrow 1"/>
          <p:cNvSpPr/>
          <p:nvPr/>
        </p:nvSpPr>
        <p:spPr>
          <a:xfrm>
            <a:off x="2743200" y="1874520"/>
            <a:ext cx="685800" cy="0"/>
          </a:xfrm>
          <a:prstGeom prst="line">
            <a:avLst/>
          </a:prstGeom>
          <a:noFill/>
          <a:ln w="31750">
            <a:solidFill>
              <a:srgbClr val="0097A7"/>
            </a:solidFill>
            <a:prstDash val="solid"/>
            <a:tailEnd type="triangle"/>
          </a:ln>
        </p:spPr>
      </p:sp>
      <p:sp>
        <p:nvSpPr>
          <p:cNvPr id="11" name="Arrow 2"/>
          <p:cNvSpPr/>
          <p:nvPr/>
        </p:nvSpPr>
        <p:spPr>
          <a:xfrm>
            <a:off x="5715000" y="1874520"/>
            <a:ext cx="685800" cy="0"/>
          </a:xfrm>
          <a:prstGeom prst="line">
            <a:avLst/>
          </a:prstGeom>
          <a:noFill/>
          <a:ln w="31750">
            <a:solidFill>
              <a:srgbClr val="0097A7"/>
            </a:solidFill>
            <a:prstDash val="solid"/>
            <a:tailEnd type="triangle"/>
          </a:ln>
        </p:spPr>
      </p:sp>
      <p:sp>
        <p:nvSpPr>
          <p:cNvPr id="12" name="Flow caption"/>
          <p:cNvSpPr txBox="1"/>
          <p:nvPr/>
        </p:nvSpPr>
        <p:spPr>
          <a:xfrm>
            <a:off x="2743200" y="2468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checkout downloads ticket.pdf</a:t>
            </a:r>
            <a:endParaRPr lang="en-US" sz="1100" dirty="0"/>
          </a:p>
        </p:txBody>
      </p:sp>
      <p:sp>
        <p:nvSpPr>
          <p:cNvPr id="13" name="Card ticket"/>
          <p:cNvSpPr/>
          <p:nvPr/>
        </p:nvSpPr>
        <p:spPr>
          <a:xfrm>
            <a:off x="457200" y="274320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4" name="Ticket heading"/>
          <p:cNvSpPr txBox="1"/>
          <p:nvPr/>
        </p:nvSpPr>
        <p:spPr>
          <a:xfrm>
            <a:off x="64008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06B"/>
                </a:solidFill>
              </a:rPr>
              <a:t>What the ticket shows</a:t>
            </a:r>
            <a:endParaRPr lang="en-US" sz="1400" dirty="0"/>
          </a:p>
        </p:txBody>
      </p:sp>
      <p:sp>
        <p:nvSpPr>
          <p:cNvPr id="15" name="Bullets"/>
          <p:cNvSpPr txBox="1"/>
          <p:nvPr/>
        </p:nvSpPr>
        <p:spPr>
          <a:xfrm>
            <a:off x="640080" y="3154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Event, artist and event date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Customer, quantity, unit price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Total and VAT (21%, included)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Purchase date, ticket number and QR code</a:t>
            </a:r>
            <a:endParaRPr lang="en-US" sz="1400" dirty="0"/>
          </a:p>
        </p:txBody>
      </p:sp>
      <p:sp>
        <p:nvSpPr>
          <p:cNvPr id="16" name="Card checkout"/>
          <p:cNvSpPr/>
          <p:nvPr/>
        </p:nvSpPr>
        <p:spPr>
          <a:xfrm>
            <a:off x="4663440" y="274320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7" name="Web heading"/>
          <p:cNvSpPr txBox="1"/>
          <p:nvPr/>
        </p:nvSpPr>
        <p:spPr>
          <a:xfrm>
            <a:off x="484632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06B"/>
                </a:solidFill>
              </a:rPr>
              <a:t>What changed in the web app</a:t>
            </a:r>
            <a:endParaRPr lang="en-US" sz="1400" dirty="0"/>
          </a:p>
        </p:txBody>
      </p:sp>
      <p:sp>
        <p:nvSpPr>
          <p:cNvPr id="18" name="Bullets"/>
          <p:cNvSpPr txBox="1"/>
          <p:nvPr/>
        </p:nvSpPr>
        <p:spPr>
          <a:xfrm>
            <a:off x="4846320" y="3154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Basket page: name field and Checkout button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Cart counter in the header of every page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Run it yourself: docker compose -f deploy/docker-compose.yml up -d --build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8909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7A7"/>
                </a:solidFill>
              </a:rPr>
              <a:t>TASK 6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objects with a shared base page</a:t>
            </a:r>
            <a:endParaRPr lang="en-US" sz="2800" dirty="0"/>
          </a:p>
        </p:txBody>
      </p:sp>
      <p:sp>
        <p:nvSpPr>
          <p:cNvPr id="4" name="Diagram card"/>
          <p:cNvSpPr/>
          <p:nvPr/>
        </p:nvSpPr>
        <p:spPr>
          <a:xfrm>
            <a:off x="457200" y="1325880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5" name="BasePage box"/>
          <p:cNvSpPr/>
          <p:nvPr/>
        </p:nvSpPr>
        <p:spPr>
          <a:xfrm>
            <a:off x="1097280" y="1508760"/>
            <a:ext cx="2926080" cy="868680"/>
          </a:xfrm>
          <a:prstGeom prst="roundRect">
            <a:avLst>
              <a:gd name="adj" fmla="val 6316"/>
            </a:avLst>
          </a:prstGeom>
          <a:solidFill>
            <a:srgbClr val="00606B"/>
          </a:solidFill>
          <a:ln w="12700">
            <a:solidFill>
              <a:srgbClr val="00606B"/>
            </a:solidFill>
            <a:prstDash val="solid"/>
          </a:ln>
        </p:spPr>
      </p:sp>
      <p:sp>
        <p:nvSpPr>
          <p:cNvPr id="6" name="BasePage text"/>
          <p:cNvSpPr txBox="1"/>
          <p:nvPr/>
        </p:nvSpPr>
        <p:spPr>
          <a:xfrm>
            <a:off x="1097280" y="15087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BasePage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ticketCount(), logo()</a:t>
            </a:r>
            <a:endParaRPr lang="en-US" sz="1400" dirty="0"/>
          </a:p>
        </p:txBody>
      </p:sp>
      <p:sp>
        <p:nvSpPr>
          <p:cNvPr id="7" name="Inherit CatalogPage"/>
          <p:cNvSpPr/>
          <p:nvPr/>
        </p:nvSpPr>
        <p:spPr>
          <a:xfrm>
            <a:off x="2560320" y="2377440"/>
            <a:ext cx="-1417320" cy="64008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8" name="Box CatalogPage"/>
          <p:cNvSpPr/>
          <p:nvPr/>
        </p:nvSpPr>
        <p:spPr>
          <a:xfrm>
            <a:off x="594360" y="3017520"/>
            <a:ext cx="11887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0097A7"/>
            </a:solidFill>
            <a:prstDash val="solid"/>
          </a:ln>
        </p:spPr>
      </p:sp>
      <p:sp>
        <p:nvSpPr>
          <p:cNvPr id="9" name="Text CatalogPage"/>
          <p:cNvSpPr txBox="1"/>
          <p:nvPr/>
        </p:nvSpPr>
        <p:spPr>
          <a:xfrm>
            <a:off x="594360" y="30175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</a:rPr>
              <a:t>CatalogPage</a:t>
            </a:r>
            <a:endParaRPr lang="en-US" sz="1200" dirty="0"/>
          </a:p>
        </p:txBody>
      </p:sp>
      <p:sp>
        <p:nvSpPr>
          <p:cNvPr id="10" name="Inherit EventDetail"/>
          <p:cNvSpPr/>
          <p:nvPr/>
        </p:nvSpPr>
        <p:spPr>
          <a:xfrm>
            <a:off x="2560320" y="2377440"/>
            <a:ext cx="-182880" cy="64008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1" name="Box EventDetail"/>
          <p:cNvSpPr/>
          <p:nvPr/>
        </p:nvSpPr>
        <p:spPr>
          <a:xfrm>
            <a:off x="1828800" y="3017520"/>
            <a:ext cx="11887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0097A7"/>
            </a:solidFill>
            <a:prstDash val="solid"/>
          </a:ln>
        </p:spPr>
      </p:sp>
      <p:sp>
        <p:nvSpPr>
          <p:cNvPr id="12" name="Text EventDetail"/>
          <p:cNvSpPr txBox="1"/>
          <p:nvPr/>
        </p:nvSpPr>
        <p:spPr>
          <a:xfrm>
            <a:off x="1828800" y="30175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</a:rPr>
              <a:t>EventDetail Page</a:t>
            </a:r>
            <a:endParaRPr lang="en-US" sz="1200" dirty="0"/>
          </a:p>
        </p:txBody>
      </p:sp>
      <p:sp>
        <p:nvSpPr>
          <p:cNvPr id="13" name="Inherit BasketPage"/>
          <p:cNvSpPr/>
          <p:nvPr/>
        </p:nvSpPr>
        <p:spPr>
          <a:xfrm>
            <a:off x="2560320" y="2377440"/>
            <a:ext cx="1051560" cy="64008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4" name="Box BasketPage"/>
          <p:cNvSpPr/>
          <p:nvPr/>
        </p:nvSpPr>
        <p:spPr>
          <a:xfrm>
            <a:off x="3063240" y="3017520"/>
            <a:ext cx="11887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0097A7"/>
            </a:solidFill>
            <a:prstDash val="solid"/>
          </a:ln>
        </p:spPr>
      </p:sp>
      <p:sp>
        <p:nvSpPr>
          <p:cNvPr id="15" name="Text BasketPage"/>
          <p:cNvSpPr txBox="1"/>
          <p:nvPr/>
        </p:nvSpPr>
        <p:spPr>
          <a:xfrm>
            <a:off x="3063240" y="30175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</a:rPr>
              <a:t>BasketPage</a:t>
            </a:r>
            <a:endParaRPr lang="en-US" sz="1200" dirty="0"/>
          </a:p>
        </p:txBody>
      </p:sp>
      <p:sp>
        <p:nvSpPr>
          <p:cNvPr id="16" name="Navigation caption"/>
          <p:cNvSpPr txBox="1"/>
          <p:nvPr/>
        </p:nvSpPr>
        <p:spPr>
          <a:xfrm>
            <a:off x="640080" y="38862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openEvent() → EventDetailPage → placeOrder() → BasketPage</a:t>
            </a:r>
            <a:endParaRPr lang="en-US" sz="1200" dirty="0"/>
          </a:p>
        </p:txBody>
      </p:sp>
      <p:sp>
        <p:nvSpPr>
          <p:cNvPr id="17" name="Bullets"/>
          <p:cNvSpPr txBox="1"/>
          <p:nvPr/>
        </p:nvSpPr>
        <p:spPr>
          <a:xfrm>
            <a:off x="4937760" y="137160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Catalog, details and basket share the header with the cart counter: move it to BasePage.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Methods that cause navigation return the next page object.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Return locators, not text: the test decides what to assert.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Write a test that places an order and checks the counter on every page.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8909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7A7"/>
                </a:solidFill>
              </a:rPr>
              <a:t>TASK 7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Fixtures instead of lifecycle code</a:t>
            </a:r>
            <a:endParaRPr lang="en-US" sz="2800" dirty="0"/>
          </a:p>
        </p:txBody>
      </p:sp>
      <p:sp>
        <p:nvSpPr>
          <p:cNvPr id="4" name="Before label"/>
          <p:cNvSpPr txBox="1"/>
          <p:nvPr/>
        </p:nvSpPr>
        <p:spPr>
          <a:xfrm>
            <a:off x="457200" y="1234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06B"/>
                </a:solidFill>
              </a:rPr>
              <a:t>TC1 today</a:t>
            </a:r>
            <a:endParaRPr lang="en-US" sz="1400" dirty="0"/>
          </a:p>
        </p:txBody>
      </p:sp>
      <p:sp>
        <p:nvSpPr>
          <p:cNvPr id="5" name="Code card"/>
          <p:cNvSpPr/>
          <p:nvPr/>
        </p:nvSpPr>
        <p:spPr>
          <a:xfrm>
            <a:off x="457200" y="1554480"/>
            <a:ext cx="4023360" cy="214884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6" name="Code"/>
          <p:cNvSpPr txBox="1"/>
          <p:nvPr/>
        </p:nvSpPr>
        <p:spPr>
          <a:xfrm>
            <a:off x="594360" y="1645920"/>
            <a:ext cx="37490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static Playwright playwright;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static Browser browser;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BrowserContext context;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@BeforeAll static void launchBrowser()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@AfterAll  static void closeBrowser()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@BeforeEach void createContextAndPage()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@AfterEach void closeContext()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@Test void catalogFilterTest() { ... }</a:t>
            </a:r>
            <a:endParaRPr lang="en-US" sz="1100" dirty="0"/>
          </a:p>
        </p:txBody>
      </p:sp>
      <p:sp>
        <p:nvSpPr>
          <p:cNvPr id="7" name="After label"/>
          <p:cNvSpPr txBox="1"/>
          <p:nvPr/>
        </p:nvSpPr>
        <p:spPr>
          <a:xfrm>
            <a:off x="4663440" y="1234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06B"/>
                </a:solidFill>
              </a:rPr>
              <a:t>With fixtures</a:t>
            </a:r>
            <a:endParaRPr lang="en-US" sz="1400" dirty="0"/>
          </a:p>
        </p:txBody>
      </p:sp>
      <p:sp>
        <p:nvSpPr>
          <p:cNvPr id="8" name="Code card"/>
          <p:cNvSpPr/>
          <p:nvPr/>
        </p:nvSpPr>
        <p:spPr>
          <a:xfrm>
            <a:off x="4663440" y="1554480"/>
            <a:ext cx="4023360" cy="214884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9" name="Code"/>
          <p:cNvSpPr txBox="1"/>
          <p:nvPr/>
        </p:nvSpPr>
        <p:spPr>
          <a:xfrm>
            <a:off x="4800600" y="1645920"/>
            <a:ext cx="37490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@UsePlaywright(GlobotOptions.class)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TC2_CatalogFilterFixtureTest {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@Test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catalogFilterTest(Page page)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CatalogPage catalog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new CatalogPage(page);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Bullets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Rewrite TC1 as TC2 with @UsePlaywright: no manual setup or cleanup left.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GlobotOptions (an OptionsFactory) sets base URL, browser and headless once for every test.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Count: how many lines of lifecycle code did you save?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8909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7A7"/>
                </a:solidFill>
              </a:rPr>
              <a:t>DISCUSSION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Assertions in the page object?</a:t>
            </a:r>
            <a:endParaRPr lang="en-US" sz="2800" dirty="0"/>
          </a:p>
        </p:txBody>
      </p:sp>
      <p:sp>
        <p:nvSpPr>
          <p:cNvPr id="4" name="Inside card"/>
          <p:cNvSpPr/>
          <p:nvPr/>
        </p:nvSpPr>
        <p:spPr>
          <a:xfrm>
            <a:off x="457200" y="128016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5" name="Inside heading"/>
          <p:cNvSpPr txBox="1"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06B"/>
                </a:solidFill>
              </a:rPr>
              <a:t>Page object asserts</a:t>
            </a:r>
            <a:endParaRPr lang="en-US" sz="1600" dirty="0"/>
          </a:p>
        </p:txBody>
      </p:sp>
      <p:sp>
        <p:nvSpPr>
          <p:cNvPr id="6" name="Code card"/>
          <p:cNvSpPr/>
          <p:nvPr/>
        </p:nvSpPr>
        <p:spPr>
          <a:xfrm>
            <a:off x="640080" y="1737360"/>
            <a:ext cx="3657600" cy="105156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7" name="Code"/>
          <p:cNvSpPr txBox="1"/>
          <p:nvPr/>
        </p:nvSpPr>
        <p:spPr>
          <a:xfrm>
            <a:off x="777240" y="18288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verifyEventName(int id,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String name)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assertThat(locator).hasText(name);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Bullets"/>
          <p:cNvSpPr txBox="1"/>
          <p:nvPr/>
        </p:nvSpPr>
        <p:spPr>
          <a:xfrm>
            <a:off x="640080" y="292608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Short tests, one line per check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Hides locators and waiting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Fixed message, one way to fail</a:t>
            </a:r>
            <a:endParaRPr lang="en-US" sz="1400" dirty="0"/>
          </a:p>
        </p:txBody>
      </p:sp>
      <p:sp>
        <p:nvSpPr>
          <p:cNvPr id="9" name="Outside card"/>
          <p:cNvSpPr/>
          <p:nvPr/>
        </p:nvSpPr>
        <p:spPr>
          <a:xfrm>
            <a:off x="4663440" y="128016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0" name="Outside heading"/>
          <p:cNvSpPr txBox="1"/>
          <p:nvPr/>
        </p:nvSpPr>
        <p:spPr>
          <a:xfrm>
            <a:off x="484632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06B"/>
                </a:solidFill>
              </a:rPr>
              <a:t>Page object returns locators</a:t>
            </a:r>
            <a:endParaRPr lang="en-US" sz="1600" dirty="0"/>
          </a:p>
        </p:txBody>
      </p:sp>
      <p:sp>
        <p:nvSpPr>
          <p:cNvPr id="11" name="Code card"/>
          <p:cNvSpPr/>
          <p:nvPr/>
        </p:nvSpPr>
        <p:spPr>
          <a:xfrm>
            <a:off x="4846320" y="1737360"/>
            <a:ext cx="3657600" cy="105156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12" name="Code"/>
          <p:cNvSpPr txBox="1"/>
          <p:nvPr/>
        </p:nvSpPr>
        <p:spPr>
          <a:xfrm>
            <a:off x="4983480" y="18288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Locator eventName(int id)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page.getByTestId(...);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 the test: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assertThat(catalog.eventName(2))...</a:t>
            </a:r>
            <a:endParaRPr lang="en-US" sz="1100" dirty="0"/>
          </a:p>
        </p:txBody>
      </p:sp>
      <p:sp>
        <p:nvSpPr>
          <p:cNvPr id="13" name="Bullets"/>
          <p:cNvSpPr txBox="1"/>
          <p:nvPr/>
        </p:nvSpPr>
        <p:spPr>
          <a:xfrm>
            <a:off x="4846320" y="292608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The test shows what is verified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One page object serves many assertions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Negative checks without extra methods</a:t>
            </a:r>
            <a:endParaRPr lang="en-US" sz="1400" dirty="0"/>
          </a:p>
        </p:txBody>
      </p:sp>
      <p:sp>
        <p:nvSpPr>
          <p:cNvPr id="14" name="Discussion prompt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12121"/>
                </a:solidFill>
              </a:rPr>
              <a:t>What do you win and what do you lose? Discuss in groups of three, then compare.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8909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7A7"/>
                </a:solidFill>
              </a:rPr>
              <a:t>TASK 8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data: builder and factory</a:t>
            </a:r>
            <a:endParaRPr lang="en-US" sz="2800" dirty="0"/>
          </a:p>
        </p:txBody>
      </p:sp>
      <p:sp>
        <p:nvSpPr>
          <p:cNvPr id="4" name="Pain label"/>
          <p:cNvSpPr txBox="1"/>
          <p:nvPr/>
        </p:nvSpPr>
        <p:spPr>
          <a:xfrm>
            <a:off x="45720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06B"/>
                </a:solidFill>
              </a:rPr>
              <a:t>The pain after 15 tests</a:t>
            </a:r>
            <a:endParaRPr lang="en-US" sz="1400" dirty="0"/>
          </a:p>
        </p:txBody>
      </p:sp>
      <p:sp>
        <p:nvSpPr>
          <p:cNvPr id="5" name="Code card"/>
          <p:cNvSpPr/>
          <p:nvPr/>
        </p:nvSpPr>
        <p:spPr>
          <a:xfrm>
            <a:off x="457200" y="1554480"/>
            <a:ext cx="3931920" cy="169164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6" name="Code"/>
          <p:cNvSpPr txBox="1"/>
          <p:nvPr/>
        </p:nvSpPr>
        <p:spPr>
          <a:xfrm>
            <a:off x="594360" y="1645920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Order("Alexander Lemtov Live",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"Alexander Lemtov",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"1/11/2024 4:22 PM", 2,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 BigDecimal("65"),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"Ann Peeters",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Instant.parse("2026-07-24T..."));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 and 14 more like it</a:t>
            </a:r>
            <a:endParaRPr lang="en-US" sz="1100" dirty="0"/>
          </a:p>
        </p:txBody>
      </p:sp>
      <p:sp>
        <p:nvSpPr>
          <p:cNvPr id="7" name="Bullets"/>
          <p:cNvSpPr txBox="1"/>
          <p:nvPr/>
        </p:nvSpPr>
        <p:spPr>
          <a:xfrm>
            <a:off x="457200" y="338328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Chain only what differs from the defaults.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OrderFactory.create(type): one deliberate order per type.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Fixed purchase date: 'now' makes tests flaky.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280160"/>
          <a:ext cx="41148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5603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OrderType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it covers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Happy path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 amounts (1250.00 x 2)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tickets, name &gt; 30 chars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LONG_NAME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 characters: wrapping, cut-off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UNICODE_NAME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 ü Ł ★ ♪: glyphs and fonts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CENTS_PRICE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x 63.33 = 189.99: rounding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MAX_QUANTITY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tickets: upper boundary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8909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7A7"/>
                </a:solidFill>
              </a:rPr>
              <a:t>TESTING PYRAMID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 we test the ticket?</a:t>
            </a:r>
            <a:endParaRPr lang="en-US" sz="2800" dirty="0"/>
          </a:p>
        </p:txBody>
      </p:sp>
      <p:sp>
        <p:nvSpPr>
          <p:cNvPr id="4" name="Level E2E in the browser"/>
          <p:cNvSpPr/>
          <p:nvPr/>
        </p:nvSpPr>
        <p:spPr>
          <a:xfrm>
            <a:off x="1645920" y="1325880"/>
            <a:ext cx="2194560" cy="914400"/>
          </a:xfrm>
          <a:prstGeom prst="rect">
            <a:avLst/>
          </a:prstGeom>
          <a:solidFill>
            <a:srgbClr val="0060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Level text E2E in the browser"/>
          <p:cNvSpPr txBox="1"/>
          <p:nvPr/>
        </p:nvSpPr>
        <p:spPr>
          <a:xfrm>
            <a:off x="1645920" y="13258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E2E in the browser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few</a:t>
            </a:r>
            <a:endParaRPr lang="en-US" sz="1400" dirty="0"/>
          </a:p>
        </p:txBody>
      </p:sp>
      <p:sp>
        <p:nvSpPr>
          <p:cNvPr id="6" name="Level Component: HTTP + PDF"/>
          <p:cNvSpPr/>
          <p:nvPr/>
        </p:nvSpPr>
        <p:spPr>
          <a:xfrm>
            <a:off x="1005840" y="2377440"/>
            <a:ext cx="3474720" cy="914400"/>
          </a:xfrm>
          <a:prstGeom prst="rect">
            <a:avLst/>
          </a:prstGeom>
          <a:solidFill>
            <a:srgbClr val="0097A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Level text Component: HTTP + PDF"/>
          <p:cNvSpPr txBox="1"/>
          <p:nvPr/>
        </p:nvSpPr>
        <p:spPr>
          <a:xfrm>
            <a:off x="1005840" y="23774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Component: HTTP + PDF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many, no browser</a:t>
            </a:r>
            <a:endParaRPr lang="en-US" sz="1400" dirty="0"/>
          </a:p>
        </p:txBody>
      </p:sp>
      <p:sp>
        <p:nvSpPr>
          <p:cNvPr id="8" name="Level Unit tests of the rules"/>
          <p:cNvSpPr/>
          <p:nvPr/>
        </p:nvSpPr>
        <p:spPr>
          <a:xfrm>
            <a:off x="365760" y="3429000"/>
            <a:ext cx="4754880" cy="914400"/>
          </a:xfrm>
          <a:prstGeom prst="rect">
            <a:avLst/>
          </a:prstGeom>
          <a:solidFill>
            <a:srgbClr val="B2EBF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Level text Unit tests of the rules"/>
          <p:cNvSpPr txBox="1"/>
          <p:nvPr/>
        </p:nvSpPr>
        <p:spPr>
          <a:xfrm>
            <a:off x="365760" y="34290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</a:rPr>
              <a:t>Unit tests of the rules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most, fastest</a:t>
            </a:r>
            <a:endParaRPr lang="en-US" sz="1400" dirty="0"/>
          </a:p>
        </p:txBody>
      </p:sp>
      <p:sp>
        <p:nvSpPr>
          <p:cNvPr id="10" name="Bullets"/>
          <p:cNvSpPr txBox="1"/>
          <p:nvPr/>
        </p:nvSpPr>
        <p:spPr>
          <a:xfrm>
            <a:off x="5120640" y="1371600"/>
            <a:ext cx="3566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One E2E test follows the whole journey and checks the downloaded PDF.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The detailed ticket checks need no browser: send an order over HTTP and read the PDF.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Faster, less flaky, and a failing test names the defect.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Playwright's APIRequestContext does the HTTP part.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8909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7A7"/>
                </a:solidFill>
              </a:rPr>
              <a:t>TASK 9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the ticket without a browser</a:t>
            </a:r>
            <a:endParaRPr lang="en-US" sz="2800" dirty="0"/>
          </a:p>
        </p:txBody>
      </p:sp>
      <p:sp>
        <p:nvSpPr>
          <p:cNvPr id="4" name="Code card"/>
          <p:cNvSpPr/>
          <p:nvPr/>
        </p:nvSpPr>
        <p:spPr>
          <a:xfrm>
            <a:off x="457200" y="1280160"/>
            <a:ext cx="4206240" cy="283464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5" name="Code"/>
          <p:cNvSpPr txBox="1"/>
          <p:nvPr/>
        </p:nvSpPr>
        <p:spPr>
          <a:xfrm>
            <a:off x="594360" y="1371600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/api/tickets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"eventName": "To the Moon and Back",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"artist": "Santiago Martinez",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"eventDate": "3/11/2024 4:22 PM",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"quantity": 3,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"unitPrice": 135,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"customerName": "Zoë Łukasz",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"purchasedAt": "2026-07-24T12:30:00Z"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200 application/pdf</a:t>
            </a:r>
            <a:endParaRPr lang="en-US" sz="1100" dirty="0"/>
          </a:p>
        </p:txBody>
      </p:sp>
      <p:sp>
        <p:nvSpPr>
          <p:cNvPr id="6" name="Checks label"/>
          <p:cNvSpPr txBox="1"/>
          <p:nvPr/>
        </p:nvSpPr>
        <p:spPr>
          <a:xfrm>
            <a:off x="4937760" y="1280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06B"/>
                </a:solidFill>
              </a:rPr>
              <a:t>Write tests for</a:t>
            </a:r>
            <a:endParaRPr lang="en-US" sz="1400" dirty="0"/>
          </a:p>
        </p:txBody>
      </p:sp>
      <p:sp>
        <p:nvSpPr>
          <p:cNvPr id="7" name="Bullets"/>
          <p:cNvSpPr txBox="1"/>
          <p:nvPr/>
        </p:nvSpPr>
        <p:spPr>
          <a:xfrm>
            <a:off x="4937760" y="160020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Total = quantity x unit price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VAT line and amount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Event and customer name printed in full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Purchase date: dd/MM/yyyy HH:mm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Ticket number format, and unique per ticket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Invalid input gives 400 (quantity 0 and 11, name of 81 characters)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Run every check for every OrderType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8909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7A7"/>
                </a:solidFill>
              </a:rPr>
              <a:t>TECHNIQUES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inside a PDF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566160"/>
                <a:gridCol w="3291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(PDFBox, ZXing)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Finds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PDFTextStripper, one line per row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Wrong total, missing VAT, cut-off name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Page count, title, embedded fonts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Boxes instead of ü or ★ on another PC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QR code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Render the page, decode with ZXing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QR and printed number disagree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Visual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Render, mask changing regions, compare pixels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Overlap, clipping, layout shifts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ip card"/>
          <p:cNvSpPr/>
          <p:nvPr/>
        </p:nvSpPr>
        <p:spPr>
          <a:xfrm>
            <a:off x="457200" y="40233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6" name="Tip text"/>
          <p:cNvSpPr txBox="1"/>
          <p:nvPr/>
        </p:nvSpPr>
        <p:spPr>
          <a:xfrm>
            <a:off x="640080" y="40233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Use the cheapest level that can see the defect. Pixel comparison is the most fragile: mask what changes on every run, such as the ticket number and QR code.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8909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7A7"/>
                </a:solidFill>
              </a:rPr>
              <a:t>TASK 10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deeper into the PDF</a:t>
            </a:r>
            <a:endParaRPr lang="en-US" sz="2800" dirty="0"/>
          </a:p>
        </p:txBody>
      </p:sp>
      <p:sp>
        <p:nvSpPr>
          <p:cNvPr id="4" name="Bullets"/>
          <p:cNvSpPr txBox="1"/>
          <p:nvPr/>
        </p:nvSpPr>
        <p:spPr>
          <a:xfrm>
            <a:off x="457200" y="132588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Write a helper that parses a PDF: text, page count, title, fonts, QR content.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Check: one page, and the title contains the ticket number.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Check: all fonts are embedded (use the UNICODE_NAME order).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Check: the QR code decodes to the printed ticket number.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Render the standard ticket and save it as a golden image. Mask the ticket number and QR code.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Compare later runs with the golden image and write a diff image when more than 0.1% of the pixels differ.</a:t>
            </a:r>
            <a:endParaRPr lang="en-US" sz="1400" dirty="0"/>
          </a:p>
        </p:txBody>
      </p:sp>
      <p:sp>
        <p:nvSpPr>
          <p:cNvPr id="5" name="Mask card"/>
          <p:cNvSpPr/>
          <p:nvPr/>
        </p:nvSpPr>
        <p:spPr>
          <a:xfrm>
            <a:off x="5577840" y="1325880"/>
            <a:ext cx="3108960" cy="3291840"/>
          </a:xfrm>
          <a:prstGeom prst="roundRect">
            <a:avLst>
              <a:gd name="adj" fmla="val 2353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6" name="Mask heading"/>
          <p:cNvSpPr txBox="1"/>
          <p:nvPr/>
        </p:nvSpPr>
        <p:spPr>
          <a:xfrm>
            <a:off x="576072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06B"/>
                </a:solidFill>
              </a:rPr>
              <a:t>Why mask?</a:t>
            </a:r>
            <a:endParaRPr lang="en-US" sz="1400" dirty="0"/>
          </a:p>
        </p:txBody>
      </p:sp>
      <p:sp>
        <p:nvSpPr>
          <p:cNvPr id="7" name="Mini page"/>
          <p:cNvSpPr/>
          <p:nvPr/>
        </p:nvSpPr>
        <p:spPr>
          <a:xfrm>
            <a:off x="6309360" y="1828800"/>
            <a:ext cx="16459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8" name="Mask QR"/>
          <p:cNvSpPr/>
          <p:nvPr/>
        </p:nvSpPr>
        <p:spPr>
          <a:xfrm>
            <a:off x="7269480" y="1920240"/>
            <a:ext cx="594360" cy="59436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9" name="Mask number"/>
          <p:cNvSpPr/>
          <p:nvPr/>
        </p:nvSpPr>
        <p:spPr>
          <a:xfrm>
            <a:off x="6400800" y="2194560"/>
            <a:ext cx="777240" cy="164592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10" name="Text line 1"/>
          <p:cNvSpPr/>
          <p:nvPr/>
        </p:nvSpPr>
        <p:spPr>
          <a:xfrm>
            <a:off x="6400800" y="2743200"/>
            <a:ext cx="914400" cy="91440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1" name="Text line 2"/>
          <p:cNvSpPr/>
          <p:nvPr/>
        </p:nvSpPr>
        <p:spPr>
          <a:xfrm>
            <a:off x="6400800" y="2971800"/>
            <a:ext cx="1188720" cy="91440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2" name="Text line 3"/>
          <p:cNvSpPr/>
          <p:nvPr/>
        </p:nvSpPr>
        <p:spPr>
          <a:xfrm>
            <a:off x="6400800" y="3200400"/>
            <a:ext cx="914400" cy="91440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3" name="Text line 4"/>
          <p:cNvSpPr/>
          <p:nvPr/>
        </p:nvSpPr>
        <p:spPr>
          <a:xfrm>
            <a:off x="6400800" y="3429000"/>
            <a:ext cx="1188720" cy="91440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4" name="Mask caption"/>
          <p:cNvSpPr txBox="1"/>
          <p:nvPr/>
        </p:nvSpPr>
        <p:spPr>
          <a:xfrm>
            <a:off x="5760720" y="4069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The number and QR change on every run: black areas are ignored.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8909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7A7"/>
                </a:solidFill>
              </a:rPr>
              <a:t>TASK 11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 the five hidden bugs</a:t>
            </a:r>
            <a:endParaRPr lang="en-US" sz="2800" dirty="0"/>
          </a:p>
        </p:txBody>
      </p:sp>
      <p:sp>
        <p:nvSpPr>
          <p:cNvPr id="4" name="Bug intro"/>
          <p:cNvSpPr txBox="1"/>
          <p:nvPr/>
        </p:nvSpPr>
        <p:spPr>
          <a:xfrm>
            <a:off x="457200" y="1234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The instructor's service has five defects. Run your tests against it and find out which ones you can catch.</a:t>
            </a:r>
            <a:endParaRPr lang="en-US" sz="1400" dirty="0"/>
          </a:p>
        </p:txBody>
      </p:sp>
      <p:sp>
        <p:nvSpPr>
          <p:cNvPr id="5" name="Bug card 1"/>
          <p:cNvSpPr/>
          <p:nvPr/>
        </p:nvSpPr>
        <p:spPr>
          <a:xfrm>
            <a:off x="457200" y="182880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6" name="Number 1"/>
          <p:cNvSpPr/>
          <p:nvPr/>
        </p:nvSpPr>
        <p:spPr>
          <a:xfrm>
            <a:off x="594360" y="1965960"/>
            <a:ext cx="384048" cy="38404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7" name="Number label 1"/>
          <p:cNvSpPr txBox="1"/>
          <p:nvPr/>
        </p:nvSpPr>
        <p:spPr>
          <a:xfrm>
            <a:off x="59436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Bug text 1"/>
          <p:cNvSpPr txBox="1"/>
          <p:nvPr/>
        </p:nvSpPr>
        <p:spPr>
          <a:xfrm>
            <a:off x="1097280" y="19202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</a:rPr>
              <a:t>Total is wrong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Think of prices with cents</a:t>
            </a:r>
            <a:endParaRPr lang="en-US" sz="1400" dirty="0"/>
          </a:p>
        </p:txBody>
      </p:sp>
      <p:sp>
        <p:nvSpPr>
          <p:cNvPr id="9" name="Bug card 2"/>
          <p:cNvSpPr/>
          <p:nvPr/>
        </p:nvSpPr>
        <p:spPr>
          <a:xfrm>
            <a:off x="3246120" y="182880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0" name="Number 2"/>
          <p:cNvSpPr/>
          <p:nvPr/>
        </p:nvSpPr>
        <p:spPr>
          <a:xfrm>
            <a:off x="3383280" y="1965960"/>
            <a:ext cx="384048" cy="38404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1" name="Number label 2"/>
          <p:cNvSpPr txBox="1"/>
          <p:nvPr/>
        </p:nvSpPr>
        <p:spPr>
          <a:xfrm>
            <a:off x="338328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Bug text 2"/>
          <p:cNvSpPr txBox="1"/>
          <p:nvPr/>
        </p:nvSpPr>
        <p:spPr>
          <a:xfrm>
            <a:off x="3886200" y="19202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</a:rPr>
              <a:t>Name is cut off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Think of long names</a:t>
            </a:r>
            <a:endParaRPr lang="en-US" sz="1400" dirty="0"/>
          </a:p>
        </p:txBody>
      </p:sp>
      <p:sp>
        <p:nvSpPr>
          <p:cNvPr id="13" name="Bug card 3"/>
          <p:cNvSpPr/>
          <p:nvPr/>
        </p:nvSpPr>
        <p:spPr>
          <a:xfrm>
            <a:off x="6035040" y="182880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4" name="Number 3"/>
          <p:cNvSpPr/>
          <p:nvPr/>
        </p:nvSpPr>
        <p:spPr>
          <a:xfrm>
            <a:off x="6172200" y="1965960"/>
            <a:ext cx="384048" cy="38404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5" name="Number label 3"/>
          <p:cNvSpPr txBox="1"/>
          <p:nvPr/>
        </p:nvSpPr>
        <p:spPr>
          <a:xfrm>
            <a:off x="617220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Bug text 3"/>
          <p:cNvSpPr txBox="1"/>
          <p:nvPr/>
        </p:nvSpPr>
        <p:spPr>
          <a:xfrm>
            <a:off x="6675120" y="19202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</a:rPr>
              <a:t>Date format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Day and month swapped?</a:t>
            </a:r>
            <a:endParaRPr lang="en-US" sz="1400" dirty="0"/>
          </a:p>
        </p:txBody>
      </p:sp>
      <p:sp>
        <p:nvSpPr>
          <p:cNvPr id="17" name="Bug card 4"/>
          <p:cNvSpPr/>
          <p:nvPr/>
        </p:nvSpPr>
        <p:spPr>
          <a:xfrm>
            <a:off x="457200" y="315468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8" name="Number 4"/>
          <p:cNvSpPr/>
          <p:nvPr/>
        </p:nvSpPr>
        <p:spPr>
          <a:xfrm>
            <a:off x="594360" y="3291840"/>
            <a:ext cx="384048" cy="38404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9" name="Number label 4"/>
          <p:cNvSpPr txBox="1"/>
          <p:nvPr/>
        </p:nvSpPr>
        <p:spPr>
          <a:xfrm>
            <a:off x="5943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Bug text 4"/>
          <p:cNvSpPr txBox="1"/>
          <p:nvPr/>
        </p:nvSpPr>
        <p:spPr>
          <a:xfrm>
            <a:off x="1097280" y="32461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</a:rPr>
              <a:t>VAT is missing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Is there a VAT line?</a:t>
            </a:r>
            <a:endParaRPr lang="en-US" sz="1400" dirty="0"/>
          </a:p>
        </p:txBody>
      </p:sp>
      <p:sp>
        <p:nvSpPr>
          <p:cNvPr id="21" name="Bug card 5"/>
          <p:cNvSpPr/>
          <p:nvPr/>
        </p:nvSpPr>
        <p:spPr>
          <a:xfrm>
            <a:off x="3246120" y="315468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22" name="Number 5"/>
          <p:cNvSpPr/>
          <p:nvPr/>
        </p:nvSpPr>
        <p:spPr>
          <a:xfrm>
            <a:off x="3383280" y="3291840"/>
            <a:ext cx="384048" cy="38404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3" name="Number label 5"/>
          <p:cNvSpPr txBox="1"/>
          <p:nvPr/>
        </p:nvSpPr>
        <p:spPr>
          <a:xfrm>
            <a:off x="338328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Bug text 5"/>
          <p:cNvSpPr txBox="1"/>
          <p:nvPr/>
        </p:nvSpPr>
        <p:spPr>
          <a:xfrm>
            <a:off x="3886200" y="32461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</a:rPr>
              <a:t>Duplicate ticket number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Order the same event twice</a:t>
            </a:r>
            <a:endParaRPr lang="en-US" sz="1400" dirty="0"/>
          </a:p>
        </p:txBody>
      </p:sp>
      <p:sp>
        <p:nvSpPr>
          <p:cNvPr id="25" name="Score card"/>
          <p:cNvSpPr/>
          <p:nvPr/>
        </p:nvSpPr>
        <p:spPr>
          <a:xfrm>
            <a:off x="6035040" y="315468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FE0B2"/>
          </a:solidFill>
          <a:ln w="12700">
            <a:solidFill>
              <a:srgbClr val="FFE0B2"/>
            </a:solidFill>
            <a:prstDash val="solid"/>
          </a:ln>
        </p:spPr>
      </p:sp>
      <p:sp>
        <p:nvSpPr>
          <p:cNvPr id="26" name="Score text"/>
          <p:cNvSpPr txBox="1"/>
          <p:nvPr/>
        </p:nvSpPr>
        <p:spPr>
          <a:xfrm>
            <a:off x="6172200" y="32461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</a:rPr>
              <a:t>Score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1 point per bug your group finds. Which test finds the most?</a:t>
            </a:r>
            <a:endParaRPr lang="en-US" sz="1400" dirty="0"/>
          </a:p>
        </p:txBody>
      </p:sp>
      <p:sp>
        <p:nvSpPr>
          <p:cNvPr id="27" name="Bug report note"/>
          <p:cNvSpPr txBox="1"/>
          <p:nvPr/>
        </p:nvSpPr>
        <p:spPr>
          <a:xfrm>
            <a:off x="457200" y="4526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Write a short bug report for each bug you find: steps, expected, actual.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8909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7A7"/>
                </a:solidFill>
              </a:rPr>
              <a:t>DISCUSSION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tests found the bugs?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1206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731520"/>
                <a:gridCol w="731520"/>
                <a:gridCol w="731520"/>
                <a:gridCol w="731520"/>
                <a:gridCol w="73152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group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Number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 (browser)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Component, text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Structure and QR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Visual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Grid note"/>
          <p:cNvSpPr txBox="1"/>
          <p:nvPr/>
        </p:nvSpPr>
        <p:spPr>
          <a:xfrm>
            <a:off x="457200" y="43434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Fill in the grid after the hunt.</a:t>
            </a:r>
            <a:endParaRPr lang="en-US" sz="1200" dirty="0"/>
          </a:p>
        </p:txBody>
      </p:sp>
      <p:sp>
        <p:nvSpPr>
          <p:cNvPr id="6" name="Bullets"/>
          <p:cNvSpPr txBox="1"/>
          <p:nvPr/>
        </p:nvSpPr>
        <p:spPr>
          <a:xfrm>
            <a:off x="5852160" y="132588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Why does the E2E test miss most bugs?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Which bug needed a deliberately chosen OrderType?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Which tests would you keep in the pipeline?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What would break a golden image without being a bug?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8909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606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4DD0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objects  ·  Fixtures  ·  Test data  ·  Looking inside a PDF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loboticket Testing">
  <a:themeElements>
    <a:clrScheme name="Globoticket Testing">
      <a:dk1>
        <a:srgbClr val="212121"/>
      </a:dk1>
      <a:lt1>
        <a:srgbClr val="FFFFFF"/>
      </a:lt1>
      <a:dk2>
        <a:srgbClr val="00606B"/>
      </a:dk2>
      <a:lt2>
        <a:srgbClr val="EEF3F4"/>
      </a:lt2>
      <a:accent1>
        <a:srgbClr val="0097A7"/>
      </a:accent1>
      <a:accent2>
        <a:srgbClr val="FFAB40"/>
      </a:accent2>
      <a:accent3>
        <a:srgbClr val="78909C"/>
      </a:accent3>
      <a:accent4>
        <a:srgbClr val="00606B"/>
      </a:accent4>
      <a:accent5>
        <a:srgbClr val="C62828"/>
      </a:accent5>
      <a:accent6>
        <a:srgbClr val="2E7D32"/>
      </a:accent6>
      <a:hlink>
        <a:srgbClr val="0097A7"/>
      </a:hlink>
      <a:folHlink>
        <a:srgbClr val="78909C"/>
      </a:folHlink>
    </a:clrScheme>
    <a:fontScheme name="Globoticket Testing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04. Best practices and testing PDF tickets</dc:title>
  <dc:subject>PptxGenJS Presentation</dc:subject>
  <dc:creator>Automated Software Testing</dc:creator>
  <cp:lastModifiedBy>Automated Software Testing</cp:lastModifiedBy>
  <cp:revision>1</cp:revision>
  <dcterms:created xsi:type="dcterms:W3CDTF">2026-10-15T19:11:07Z</dcterms:created>
  <dcterms:modified xsi:type="dcterms:W3CDTF">2026-10-15T19:11:07Z</dcterms:modified>
</cp:coreProperties>
</file>