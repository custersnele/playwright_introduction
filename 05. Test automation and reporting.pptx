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5"/>
    <p:sldMasterId id="2147483666" r:id="rId6"/>
    <p:sldMasterId id="2147483667" r:id="rId7"/>
    <p:sldMasterId id="2147483668"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Lst>
  <p:sldSz cy="5143500" cx="9144000"/>
  <p:notesSz cx="6858000" cy="9144000"/>
  <p:embeddedFontLst>
    <p:embeddedFont>
      <p:font typeface="Roboto"/>
      <p:regular r:id="rId42"/>
      <p:bold r:id="rId43"/>
      <p:italic r:id="rId44"/>
      <p:boldItalic r:id="rId45"/>
    </p:embeddedFont>
    <p:embeddedFont>
      <p:font typeface="Roboto Mon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247AAF-1C8C-4A14-983A-59719AFA9772}">
  <a:tblStyle styleId="{53247AAF-1C8C-4A14-983A-59719AFA977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font" Target="fonts/Roboto-regular.fntdata"/><Relationship Id="rId41" Type="http://schemas.openxmlformats.org/officeDocument/2006/relationships/slide" Target="slides/slide32.xml"/><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RobotoMono-regular.fntdata"/><Relationship Id="rId45"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48" Type="http://schemas.openxmlformats.org/officeDocument/2006/relationships/font" Target="fonts/RobotoMono-italic.fntdata"/><Relationship Id="rId47" Type="http://schemas.openxmlformats.org/officeDocument/2006/relationships/font" Target="fonts/RobotoMono-bold.fntdata"/><Relationship Id="rId49" Type="http://schemas.openxmlformats.org/officeDocument/2006/relationships/font" Target="fonts/RobotoMono-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11" Type="http://schemas.openxmlformats.org/officeDocument/2006/relationships/slide" Target="slides/slide2.xml"/><Relationship Id="rId10" Type="http://schemas.openxmlformats.org/officeDocument/2006/relationships/slide" Target="slides/slide1.xml"/><Relationship Id="rId13" Type="http://schemas.openxmlformats.org/officeDocument/2006/relationships/slide" Target="slides/slide4.xml"/><Relationship Id="rId12" Type="http://schemas.openxmlformats.org/officeDocument/2006/relationships/slide" Target="slides/slide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aven.apache.org/guides/introduction/introduction-to-the-lifecycle.html#Lifecycle_Reference"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0103bcafc9_0_27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30103bcafc9_0_2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21f6b1c5fb_0_1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nl" sz="1300">
                <a:solidFill>
                  <a:schemeClr val="dk1"/>
                </a:solidFill>
              </a:rPr>
              <a:t>Learning Goals</a:t>
            </a:r>
            <a:endParaRPr b="1" sz="1300">
              <a:solidFill>
                <a:schemeClr val="dk1"/>
              </a:solidFill>
            </a:endParaRPr>
          </a:p>
          <a:p>
            <a:pPr indent="0" lvl="0" marL="0" rtl="0" algn="l">
              <a:lnSpc>
                <a:spcPct val="115000"/>
              </a:lnSpc>
              <a:spcBef>
                <a:spcPts val="1200"/>
              </a:spcBef>
              <a:spcAft>
                <a:spcPts val="0"/>
              </a:spcAft>
              <a:buNone/>
            </a:pPr>
            <a:r>
              <a:rPr lang="nl">
                <a:solidFill>
                  <a:schemeClr val="dk1"/>
                </a:solidFill>
              </a:rPr>
              <a:t>The student: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nl">
                <a:solidFill>
                  <a:schemeClr val="dk1"/>
                </a:solidFill>
              </a:rPr>
              <a:t>Purpose of Reporting in Test Automation</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nl">
                <a:solidFill>
                  <a:schemeClr val="dk1"/>
                </a:solidFill>
              </a:rPr>
              <a:t>Can describe the purpose of reporting in test automation, including:</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nl">
                <a:solidFill>
                  <a:schemeClr val="dk1"/>
                </a:solidFill>
              </a:rPr>
              <a:t>Status reporting for stakeholders.</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nl">
                <a:solidFill>
                  <a:schemeClr val="dk1"/>
                </a:solidFill>
              </a:rPr>
              <a:t>Metrics to track progress and quality.</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nl">
                <a:solidFill>
                  <a:schemeClr val="dk1"/>
                </a:solidFill>
              </a:rPr>
              <a:t>Supporting the investigation and resolution of test failures.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nl">
                <a:solidFill>
                  <a:schemeClr val="dk1"/>
                </a:solidFill>
              </a:rPr>
              <a:t>Understands the importance of clear and actionable test automation reports for decision-making.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nl">
                <a:solidFill>
                  <a:schemeClr val="dk1"/>
                </a:solidFill>
              </a:rPr>
              <a:t>Test Automation Metrics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nl">
                <a:solidFill>
                  <a:schemeClr val="dk1"/>
                </a:solidFill>
              </a:rPr>
              <a:t>Can identify different metrics to improve a Test Automation Solution (TAS).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nl">
                <a:solidFill>
                  <a:schemeClr val="dk1"/>
                </a:solidFill>
              </a:rPr>
              <a:t>Can describe indicators that demonstrate the benefits of TAS.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nl">
                <a:solidFill>
                  <a:schemeClr val="dk1"/>
                </a:solidFill>
              </a:rPr>
              <a:t>Understands the lifecycle of a test in a TAS and its relationship with reporting and metrics.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nl">
                <a:solidFill>
                  <a:schemeClr val="dk1"/>
                </a:solidFill>
              </a:rPr>
              <a:t>Can explain the challenges and opportunities of handling mass testing and deriving meaningful insights from mass data.</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nl">
                <a:solidFill>
                  <a:schemeClr val="dk1"/>
                </a:solidFill>
              </a:rPr>
              <a:t>Knows the quality criteria for effective reports.</a:t>
            </a:r>
            <a:endParaRPr>
              <a:solidFill>
                <a:schemeClr val="dk1"/>
              </a:solidFill>
            </a:endParaRPr>
          </a:p>
          <a:p>
            <a:pPr indent="0" lvl="0" marL="0" rtl="0" algn="l">
              <a:spcBef>
                <a:spcPts val="1200"/>
              </a:spcBef>
              <a:spcAft>
                <a:spcPts val="0"/>
              </a:spcAft>
              <a:buNone/>
            </a:pPr>
            <a:r>
              <a:t/>
            </a:r>
            <a:endParaRPr/>
          </a:p>
        </p:txBody>
      </p:sp>
      <p:sp>
        <p:nvSpPr>
          <p:cNvPr id="99" name="Google Shape;99;g321f6b1c5fb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0103bcafc9_0_27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30103bcafc9_0_2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21f6b1c5fb_0_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nl" sz="1300">
                <a:solidFill>
                  <a:schemeClr val="dk1"/>
                </a:solidFill>
              </a:rPr>
              <a:t>Learning Goals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nl">
                <a:solidFill>
                  <a:schemeClr val="dk1"/>
                </a:solidFill>
              </a:rPr>
              <a:t>The student: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nl">
                <a:solidFill>
                  <a:schemeClr val="dk1"/>
                </a:solidFill>
              </a:rPr>
              <a:t>Purpose of Reporting in Test Automation</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nl">
                <a:solidFill>
                  <a:schemeClr val="dk1"/>
                </a:solidFill>
              </a:rPr>
              <a:t>Can describe the purpose of reporting in test automation, including:</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nl">
                <a:solidFill>
                  <a:schemeClr val="dk1"/>
                </a:solidFill>
              </a:rPr>
              <a:t>Status reporting for stakeholders.</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nl">
                <a:solidFill>
                  <a:schemeClr val="dk1"/>
                </a:solidFill>
              </a:rPr>
              <a:t>Metrics to track progress and quality.</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nl">
                <a:solidFill>
                  <a:schemeClr val="dk1"/>
                </a:solidFill>
              </a:rPr>
              <a:t>Supporting the investigation and resolution of test failures.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nl">
                <a:solidFill>
                  <a:schemeClr val="dk1"/>
                </a:solidFill>
              </a:rPr>
              <a:t>Understands the importance of clear and actionable test automation reports for decision-making.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nl">
                <a:solidFill>
                  <a:schemeClr val="dk1"/>
                </a:solidFill>
              </a:rPr>
              <a:t>Test Automation Metrics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nl">
                <a:solidFill>
                  <a:schemeClr val="dk1"/>
                </a:solidFill>
              </a:rPr>
              <a:t>Can identify different metrics to improve a Test Automation Solution (TAS).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nl">
                <a:solidFill>
                  <a:schemeClr val="dk1"/>
                </a:solidFill>
              </a:rPr>
              <a:t>Can describe indicators that demonstrate the benefits of TAS.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nl">
                <a:solidFill>
                  <a:schemeClr val="dk1"/>
                </a:solidFill>
              </a:rPr>
              <a:t>Understands the lifecycle of a test in a TAS and its relationship with reporting and metrics.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nl">
                <a:solidFill>
                  <a:schemeClr val="dk1"/>
                </a:solidFill>
              </a:rPr>
              <a:t>Can explain the challenges and opportunities of handling mass testing and deriving meaningful insights from mass data.</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nl">
                <a:solidFill>
                  <a:schemeClr val="dk1"/>
                </a:solidFill>
              </a:rPr>
              <a:t>Knows the quality criteria for effective reports.</a:t>
            </a:r>
            <a:endParaRPr>
              <a:solidFill>
                <a:schemeClr val="dk1"/>
              </a:solidFill>
            </a:endParaRPr>
          </a:p>
          <a:p>
            <a:pPr indent="0" lvl="0" marL="0" rtl="0" algn="l">
              <a:spcBef>
                <a:spcPts val="1200"/>
              </a:spcBef>
              <a:spcAft>
                <a:spcPts val="0"/>
              </a:spcAft>
              <a:buNone/>
            </a:pPr>
            <a:r>
              <a:t/>
            </a:r>
            <a:endParaRPr/>
          </a:p>
        </p:txBody>
      </p:sp>
      <p:sp>
        <p:nvSpPr>
          <p:cNvPr id="113" name="Google Shape;113;g321f6b1c5fb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21f6b1c5fb_0_2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21f6b1c5fb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1bf178e93b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1bf178e93b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1bf178e93b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1bf178e93b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sz="1200">
                <a:solidFill>
                  <a:srgbClr val="3D3B49"/>
                </a:solidFill>
                <a:latin typeface="Times New Roman"/>
                <a:ea typeface="Times New Roman"/>
                <a:cs typeface="Times New Roman"/>
                <a:sym typeface="Times New Roman"/>
              </a:rPr>
              <a:t>Regression testing is a prime candidate for automation due to its innate frequency of execution and its fault detection potential. In other words, regression testing is often the main reason for transitioning from manual to automated testing.</a:t>
            </a:r>
            <a:endParaRPr sz="1200">
              <a:solidFill>
                <a:srgbClr val="3D3B49"/>
              </a:solidFill>
              <a:latin typeface="Times New Roman"/>
              <a:ea typeface="Times New Roman"/>
              <a:cs typeface="Times New Roman"/>
              <a:sym typeface="Times New Roman"/>
            </a:endParaRPr>
          </a:p>
          <a:p>
            <a:pPr indent="0" lvl="0" marL="0" rtl="0" algn="l">
              <a:spcBef>
                <a:spcPts val="0"/>
              </a:spcBef>
              <a:spcAft>
                <a:spcPts val="0"/>
              </a:spcAft>
              <a:buNone/>
            </a:pPr>
            <a:r>
              <a:rPr lang="nl" sz="1200">
                <a:solidFill>
                  <a:srgbClr val="3D3B49"/>
                </a:solidFill>
                <a:latin typeface="Times New Roman"/>
                <a:ea typeface="Times New Roman"/>
                <a:cs typeface="Times New Roman"/>
                <a:sym typeface="Times New Roman"/>
              </a:rPr>
              <a:t>Ideally, manual tests for new or changed functionality at the various test levels are immediately added to an automated regression test suite as soon as the functionality is accepted by its stakeholders. This ensures that the new or changed functionality and its code base are adequately covered when the regression test suite is re-run. This significantly increases the chances that a regression in the SUT’s legacy functionality or code base is detected.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1bf178e93b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1bf178e93b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1bf178e93b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1bf178e93b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0b64196be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0b64196be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sz="1200">
                <a:solidFill>
                  <a:schemeClr val="dk1"/>
                </a:solidFill>
                <a:latin typeface="Roboto"/>
                <a:ea typeface="Roboto"/>
                <a:cs typeface="Roboto"/>
                <a:sym typeface="Roboto"/>
              </a:rPr>
              <a:t>Status reporting: for </a:t>
            </a:r>
            <a:r>
              <a:rPr lang="nl" sz="1200">
                <a:solidFill>
                  <a:schemeClr val="dk1"/>
                </a:solidFill>
                <a:latin typeface="Roboto"/>
                <a:ea typeface="Roboto"/>
                <a:cs typeface="Roboto"/>
                <a:sym typeface="Roboto"/>
              </a:rPr>
              <a:t>everyone who wants to see progress - like number of tests passing or failing. Keep all stakeholders up to date, a dashboard can be an effective solution.</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nl" sz="1200">
                <a:solidFill>
                  <a:schemeClr val="dk1"/>
                </a:solidFill>
                <a:latin typeface="Roboto"/>
                <a:ea typeface="Roboto"/>
                <a:cs typeface="Roboto"/>
                <a:sym typeface="Roboto"/>
              </a:rPr>
              <a:t>Metrics: things we want to measure and track over time to identify the areas we want to improve.</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nl"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1bf178e93b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1bf178e93b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1bf178e93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1bf178e93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metrics = statistieken [NL]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1bf178e93b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1bf178e93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1bf178e93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1bf178e93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1bf178e93b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1bf178e93b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nl" sz="1300">
                <a:solidFill>
                  <a:schemeClr val="dk1"/>
                </a:solidFill>
              </a:rPr>
              <a:t>Validity</a:t>
            </a:r>
            <a:endParaRPr b="1" sz="1300">
              <a:solidFill>
                <a:schemeClr val="dk1"/>
              </a:solidFill>
            </a:endParaRPr>
          </a:p>
          <a:p>
            <a:pPr indent="0" lvl="0" marL="0" rtl="0" algn="l">
              <a:lnSpc>
                <a:spcPct val="115000"/>
              </a:lnSpc>
              <a:spcBef>
                <a:spcPts val="1200"/>
              </a:spcBef>
              <a:spcAft>
                <a:spcPts val="0"/>
              </a:spcAft>
              <a:buNone/>
            </a:pPr>
            <a:r>
              <a:rPr b="1" lang="nl">
                <a:solidFill>
                  <a:schemeClr val="dk1"/>
                </a:solidFill>
              </a:rPr>
              <a:t>Definition:</a:t>
            </a:r>
            <a:r>
              <a:rPr lang="nl">
                <a:solidFill>
                  <a:schemeClr val="dk1"/>
                </a:solidFill>
              </a:rPr>
              <a:t> Validity checks if a metric accurately measures what it claims to measure.</a:t>
            </a:r>
            <a:endParaRPr>
              <a:solidFill>
                <a:schemeClr val="dk1"/>
              </a:solidFill>
            </a:endParaRPr>
          </a:p>
          <a:p>
            <a:pPr indent="0" lvl="0" marL="0" rtl="0" algn="l">
              <a:lnSpc>
                <a:spcPct val="115000"/>
              </a:lnSpc>
              <a:spcBef>
                <a:spcPts val="1200"/>
              </a:spcBef>
              <a:spcAft>
                <a:spcPts val="0"/>
              </a:spcAft>
              <a:buNone/>
            </a:pPr>
            <a:r>
              <a:rPr b="1" lang="nl">
                <a:solidFill>
                  <a:schemeClr val="dk1"/>
                </a:solidFill>
              </a:rPr>
              <a:t>Example:</a:t>
            </a:r>
            <a:r>
              <a:rPr lang="nl">
                <a:solidFill>
                  <a:schemeClr val="dk1"/>
                </a:solidFill>
              </a:rPr>
              <a:t> Does "number of bugs" reflect software quality effectively?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nl" sz="1300">
                <a:solidFill>
                  <a:schemeClr val="dk1"/>
                </a:solidFill>
              </a:rPr>
              <a:t>Objectivity</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nl">
                <a:solidFill>
                  <a:schemeClr val="dk1"/>
                </a:solidFill>
              </a:rPr>
              <a:t>Definition:</a:t>
            </a:r>
            <a:r>
              <a:rPr lang="nl">
                <a:solidFill>
                  <a:schemeClr val="dk1"/>
                </a:solidFill>
              </a:rPr>
              <a:t> Objectivity ensures the metric is not influenced by subjective judgment or testing conditions.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nl">
                <a:solidFill>
                  <a:schemeClr val="dk1"/>
                </a:solidFill>
              </a:rPr>
              <a:t>Example:</a:t>
            </a:r>
            <a:r>
              <a:rPr lang="nl">
                <a:solidFill>
                  <a:schemeClr val="dk1"/>
                </a:solidFill>
              </a:rPr>
              <a:t> A metric like "test execution time" is objective if it is measured using an automated stopwatch rather than estimated by a tester, which might vary based on human perception or conditions.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nl" sz="1300">
                <a:solidFill>
                  <a:schemeClr val="dk1"/>
                </a:solidFill>
              </a:rPr>
              <a:t>Reliability</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nl">
                <a:solidFill>
                  <a:schemeClr val="dk1"/>
                </a:solidFill>
              </a:rPr>
              <a:t>Definition:</a:t>
            </a:r>
            <a:r>
              <a:rPr lang="nl">
                <a:solidFill>
                  <a:schemeClr val="dk1"/>
                </a:solidFill>
              </a:rPr>
              <a:t> Reliability assesses if the metric produces consistent and reproducible results under the same conditions.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nl">
                <a:solidFill>
                  <a:schemeClr val="dk1"/>
                </a:solidFill>
              </a:rPr>
              <a:t>Example:</a:t>
            </a:r>
            <a:r>
              <a:rPr lang="nl">
                <a:solidFill>
                  <a:schemeClr val="dk1"/>
                </a:solidFill>
              </a:rPr>
              <a:t> If you run the same automated test suite multiple times, the number of test failures should be consistent. If it varies due to flaky tests or unstable environments, the metric lacks reliability.</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nl" sz="1300">
                <a:solidFill>
                  <a:schemeClr val="dk1"/>
                </a:solidFill>
              </a:rPr>
              <a:t>Level of Measurement and Valid Operations (Usability)</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nl">
                <a:solidFill>
                  <a:schemeClr val="dk1"/>
                </a:solidFill>
              </a:rPr>
              <a:t>The type of scale used (nominal, ordinal, interval, or ratio) determines what kind of analysis can be performed.</a:t>
            </a:r>
            <a:endParaRPr>
              <a:solidFill>
                <a:schemeClr val="dk1"/>
              </a:solidFill>
            </a:endParaRPr>
          </a:p>
          <a:p>
            <a:pPr indent="0" lvl="0" marL="0" rtl="0" algn="l">
              <a:spcBef>
                <a:spcPts val="1200"/>
              </a:spcBef>
              <a:spcAft>
                <a:spcPts val="0"/>
              </a:spcAft>
              <a:buNone/>
            </a:pPr>
            <a:r>
              <a:t/>
            </a:r>
            <a:endParaRPr b="1" sz="1200">
              <a:solidFill>
                <a:srgbClr val="3D3B49"/>
              </a:solidFill>
              <a:highlight>
                <a:srgbClr val="FFFFFF"/>
              </a:highlight>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1bf178e93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1bf178e93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Resource: Software testing: principles and practices, Srinivasan Desikan, Gopalaswamy Ramesh</a:t>
            </a:r>
            <a:endParaRPr/>
          </a:p>
          <a:p>
            <a:pPr indent="0" lvl="0" marL="0" rtl="0" algn="l">
              <a:spcBef>
                <a:spcPts val="0"/>
              </a:spcBef>
              <a:spcAft>
                <a:spcPts val="0"/>
              </a:spcAft>
              <a:buNone/>
            </a:pPr>
            <a:r>
              <a:t/>
            </a:r>
            <a:endParaRPr/>
          </a:p>
          <a:p>
            <a:pPr indent="-304800" lvl="0" marL="685800" rtl="0" algn="l">
              <a:lnSpc>
                <a:spcPct val="175000"/>
              </a:lnSpc>
              <a:spcBef>
                <a:spcPts val="1800"/>
              </a:spcBef>
              <a:spcAft>
                <a:spcPts val="0"/>
              </a:spcAft>
              <a:buClr>
                <a:srgbClr val="3D3B49"/>
              </a:buClr>
              <a:buSzPts val="1200"/>
              <a:buFont typeface="Times New Roman"/>
              <a:buAutoNum type="arabicPeriod"/>
            </a:pPr>
            <a:r>
              <a:rPr b="1" lang="nl" sz="1200">
                <a:solidFill>
                  <a:srgbClr val="3D3B49"/>
                </a:solidFill>
                <a:latin typeface="Times New Roman"/>
                <a:ea typeface="Times New Roman"/>
                <a:cs typeface="Times New Roman"/>
                <a:sym typeface="Times New Roman"/>
              </a:rPr>
              <a:t>Project metrics</a:t>
            </a:r>
            <a:r>
              <a:rPr lang="nl" sz="1200">
                <a:solidFill>
                  <a:srgbClr val="3D3B49"/>
                </a:solidFill>
                <a:latin typeface="Times New Roman"/>
                <a:ea typeface="Times New Roman"/>
                <a:cs typeface="Times New Roman"/>
                <a:sym typeface="Times New Roman"/>
              </a:rPr>
              <a:t> A set of metrics that indicates how the project is planned and executed.</a:t>
            </a:r>
            <a:endParaRPr sz="1200">
              <a:solidFill>
                <a:srgbClr val="3D3B49"/>
              </a:solidFill>
              <a:latin typeface="Times New Roman"/>
              <a:ea typeface="Times New Roman"/>
              <a:cs typeface="Times New Roman"/>
              <a:sym typeface="Times New Roman"/>
            </a:endParaRPr>
          </a:p>
          <a:p>
            <a:pPr indent="-304800" lvl="0" marL="685800" rtl="0" algn="l">
              <a:lnSpc>
                <a:spcPct val="175000"/>
              </a:lnSpc>
              <a:spcBef>
                <a:spcPts val="0"/>
              </a:spcBef>
              <a:spcAft>
                <a:spcPts val="0"/>
              </a:spcAft>
              <a:buClr>
                <a:srgbClr val="3D3B49"/>
              </a:buClr>
              <a:buSzPts val="1200"/>
              <a:buFont typeface="Times New Roman"/>
              <a:buAutoNum type="arabicPeriod"/>
            </a:pPr>
            <a:r>
              <a:rPr b="1" lang="nl" sz="1200">
                <a:solidFill>
                  <a:srgbClr val="3D3B49"/>
                </a:solidFill>
                <a:latin typeface="Times New Roman"/>
                <a:ea typeface="Times New Roman"/>
                <a:cs typeface="Times New Roman"/>
                <a:sym typeface="Times New Roman"/>
              </a:rPr>
              <a:t>Progress metrics</a:t>
            </a:r>
            <a:r>
              <a:rPr lang="nl" sz="1200">
                <a:solidFill>
                  <a:srgbClr val="3D3B49"/>
                </a:solidFill>
                <a:latin typeface="Times New Roman"/>
                <a:ea typeface="Times New Roman"/>
                <a:cs typeface="Times New Roman"/>
                <a:sym typeface="Times New Roman"/>
              </a:rPr>
              <a:t> A set of metrics that tracks how the different activities of the project are progressing. The activities include both development activities and testing activities. Since the focus of this book is testing, only metrics applicable to testing activities are discussed in this book (and in this chapter). Progress metrics is monitored during testing phases. Progress metrics helps in finding out the status of test activities and they are also good indicators of product quality. The defects that emerge from testing provide a wealth of information that help both development team and test team to analyze and improve. For this reason, progress metrics in this chapter focus only on defects. Progress metrics, for convenience, is further classified into </a:t>
            </a:r>
            <a:r>
              <a:rPr i="1" lang="nl" sz="1200">
                <a:solidFill>
                  <a:srgbClr val="3D3B49"/>
                </a:solidFill>
                <a:latin typeface="Times New Roman"/>
                <a:ea typeface="Times New Roman"/>
                <a:cs typeface="Times New Roman"/>
                <a:sym typeface="Times New Roman"/>
              </a:rPr>
              <a:t>test defect metrics</a:t>
            </a:r>
            <a:r>
              <a:rPr lang="nl" sz="1200">
                <a:solidFill>
                  <a:srgbClr val="3D3B49"/>
                </a:solidFill>
                <a:latin typeface="Times New Roman"/>
                <a:ea typeface="Times New Roman"/>
                <a:cs typeface="Times New Roman"/>
                <a:sym typeface="Times New Roman"/>
              </a:rPr>
              <a:t> and </a:t>
            </a:r>
            <a:r>
              <a:rPr i="1" lang="nl" sz="1200">
                <a:solidFill>
                  <a:srgbClr val="3D3B49"/>
                </a:solidFill>
                <a:latin typeface="Times New Roman"/>
                <a:ea typeface="Times New Roman"/>
                <a:cs typeface="Times New Roman"/>
                <a:sym typeface="Times New Roman"/>
              </a:rPr>
              <a:t>development defect metrics.</a:t>
            </a:r>
            <a:endParaRPr i="1" sz="1200">
              <a:solidFill>
                <a:srgbClr val="3D3B49"/>
              </a:solidFill>
              <a:latin typeface="Times New Roman"/>
              <a:ea typeface="Times New Roman"/>
              <a:cs typeface="Times New Roman"/>
              <a:sym typeface="Times New Roman"/>
            </a:endParaRPr>
          </a:p>
          <a:p>
            <a:pPr indent="-304800" lvl="0" marL="685800" rtl="0" algn="l">
              <a:lnSpc>
                <a:spcPct val="175000"/>
              </a:lnSpc>
              <a:spcBef>
                <a:spcPts val="0"/>
              </a:spcBef>
              <a:spcAft>
                <a:spcPts val="0"/>
              </a:spcAft>
              <a:buClr>
                <a:srgbClr val="3D3B49"/>
              </a:buClr>
              <a:buSzPts val="1200"/>
              <a:buFont typeface="Times New Roman"/>
              <a:buAutoNum type="arabicPeriod"/>
            </a:pPr>
            <a:r>
              <a:rPr b="1" lang="nl" sz="1200">
                <a:solidFill>
                  <a:srgbClr val="3D3B49"/>
                </a:solidFill>
                <a:latin typeface="Times New Roman"/>
                <a:ea typeface="Times New Roman"/>
                <a:cs typeface="Times New Roman"/>
                <a:sym typeface="Times New Roman"/>
              </a:rPr>
              <a:t>Productivity metrics</a:t>
            </a:r>
            <a:r>
              <a:rPr lang="nl" sz="1200">
                <a:solidFill>
                  <a:srgbClr val="3D3B49"/>
                </a:solidFill>
                <a:latin typeface="Times New Roman"/>
                <a:ea typeface="Times New Roman"/>
                <a:cs typeface="Times New Roman"/>
                <a:sym typeface="Times New Roman"/>
              </a:rPr>
              <a:t> A set of metrics that takes into account various productivity numbers that can be collected and used for planning and tracking testing activities. These metrics help in planning and estimating of testing activities.</a:t>
            </a:r>
            <a:endParaRPr sz="1200">
              <a:solidFill>
                <a:srgbClr val="3D3B49"/>
              </a:solidFill>
              <a:latin typeface="Times New Roman"/>
              <a:ea typeface="Times New Roman"/>
              <a:cs typeface="Times New Roman"/>
              <a:sym typeface="Times New Roman"/>
            </a:endParaRPr>
          </a:p>
          <a:p>
            <a:pPr indent="0" lvl="0" marL="0" rtl="0" algn="l">
              <a:spcBef>
                <a:spcPts val="18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1bf178e93b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1bf178e93b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685800" rtl="0" algn="l">
              <a:lnSpc>
                <a:spcPct val="175000"/>
              </a:lnSpc>
              <a:spcBef>
                <a:spcPts val="1800"/>
              </a:spcBef>
              <a:spcAft>
                <a:spcPts val="0"/>
              </a:spcAft>
              <a:buClr>
                <a:srgbClr val="3D3B49"/>
              </a:buClr>
              <a:buSzPts val="1200"/>
              <a:buFont typeface="Times New Roman"/>
              <a:buChar char="●"/>
            </a:pPr>
            <a:r>
              <a:rPr b="1" lang="nl" sz="1200">
                <a:solidFill>
                  <a:srgbClr val="3D3B49"/>
                </a:solidFill>
                <a:highlight>
                  <a:srgbClr val="FFFFFF"/>
                </a:highlight>
                <a:latin typeface="Times New Roman"/>
                <a:ea typeface="Times New Roman"/>
                <a:cs typeface="Times New Roman"/>
                <a:sym typeface="Times New Roman"/>
              </a:rPr>
              <a:t>Automation benefits.</a:t>
            </a:r>
            <a:r>
              <a:rPr lang="nl" sz="1200">
                <a:solidFill>
                  <a:srgbClr val="3D3B49"/>
                </a:solidFill>
                <a:highlight>
                  <a:srgbClr val="FFFFFF"/>
                </a:highlight>
                <a:latin typeface="Times New Roman"/>
                <a:ea typeface="Times New Roman"/>
                <a:cs typeface="Times New Roman"/>
                <a:sym typeface="Times New Roman"/>
              </a:rPr>
              <a:t> An external metric that can, for example, be used as a basis for ROI analysis.</a:t>
            </a:r>
            <a:endParaRPr sz="1200">
              <a:solidFill>
                <a:srgbClr val="3D3B49"/>
              </a:solidFill>
              <a:highlight>
                <a:srgbClr val="FFFFFF"/>
              </a:highlight>
              <a:latin typeface="Times New Roman"/>
              <a:ea typeface="Times New Roman"/>
              <a:cs typeface="Times New Roman"/>
              <a:sym typeface="Times New Roman"/>
            </a:endParaRPr>
          </a:p>
          <a:p>
            <a:pPr indent="-304800" lvl="0" marL="685800" rtl="0" algn="l">
              <a:lnSpc>
                <a:spcPct val="175000"/>
              </a:lnSpc>
              <a:spcBef>
                <a:spcPts val="0"/>
              </a:spcBef>
              <a:spcAft>
                <a:spcPts val="0"/>
              </a:spcAft>
              <a:buClr>
                <a:srgbClr val="3D3B49"/>
              </a:buClr>
              <a:buSzPts val="1200"/>
              <a:buFont typeface="Times New Roman"/>
              <a:buChar char="●"/>
            </a:pPr>
            <a:r>
              <a:rPr lang="nl" sz="1800">
                <a:solidFill>
                  <a:srgbClr val="D9D9D9"/>
                </a:solidFill>
                <a:highlight>
                  <a:srgbClr val="FFFFFF"/>
                </a:highlight>
                <a:latin typeface="Times New Roman"/>
                <a:ea typeface="Times New Roman"/>
                <a:cs typeface="Times New Roman"/>
                <a:sym typeface="Times New Roman"/>
              </a:rPr>
              <a:t>■</a:t>
            </a:r>
            <a:r>
              <a:rPr b="1" lang="nl" sz="1200">
                <a:solidFill>
                  <a:srgbClr val="3D3B49"/>
                </a:solidFill>
                <a:highlight>
                  <a:srgbClr val="FFFFFF"/>
                </a:highlight>
                <a:latin typeface="Times New Roman"/>
                <a:ea typeface="Times New Roman"/>
                <a:cs typeface="Times New Roman"/>
                <a:sym typeface="Times New Roman"/>
              </a:rPr>
              <a:t>Effort required to build automated tests.</a:t>
            </a:r>
            <a:r>
              <a:rPr lang="nl" sz="1200">
                <a:solidFill>
                  <a:srgbClr val="3D3B49"/>
                </a:solidFill>
                <a:highlight>
                  <a:srgbClr val="FFFFFF"/>
                </a:highlight>
                <a:latin typeface="Times New Roman"/>
                <a:ea typeface="Times New Roman"/>
                <a:cs typeface="Times New Roman"/>
                <a:sym typeface="Times New Roman"/>
              </a:rPr>
              <a:t> An external metric that can be used for project planning, but that can also provide valuable information about TAS optimization.</a:t>
            </a:r>
            <a:endParaRPr sz="1200">
              <a:solidFill>
                <a:srgbClr val="3D3B49"/>
              </a:solidFill>
              <a:highlight>
                <a:srgbClr val="FFFFFF"/>
              </a:highlight>
              <a:latin typeface="Times New Roman"/>
              <a:ea typeface="Times New Roman"/>
              <a:cs typeface="Times New Roman"/>
              <a:sym typeface="Times New Roman"/>
            </a:endParaRPr>
          </a:p>
          <a:p>
            <a:pPr indent="-304800" lvl="0" marL="685800" rtl="0" algn="l">
              <a:lnSpc>
                <a:spcPct val="175000"/>
              </a:lnSpc>
              <a:spcBef>
                <a:spcPts val="0"/>
              </a:spcBef>
              <a:spcAft>
                <a:spcPts val="0"/>
              </a:spcAft>
              <a:buClr>
                <a:srgbClr val="3D3B49"/>
              </a:buClr>
              <a:buSzPts val="1200"/>
              <a:buFont typeface="Times New Roman"/>
              <a:buChar char="●"/>
            </a:pPr>
            <a:r>
              <a:rPr lang="nl" sz="1800">
                <a:solidFill>
                  <a:srgbClr val="D9D9D9"/>
                </a:solidFill>
                <a:highlight>
                  <a:srgbClr val="FFFFFF"/>
                </a:highlight>
                <a:latin typeface="Times New Roman"/>
                <a:ea typeface="Times New Roman"/>
                <a:cs typeface="Times New Roman"/>
                <a:sym typeface="Times New Roman"/>
              </a:rPr>
              <a:t>■</a:t>
            </a:r>
            <a:r>
              <a:rPr b="1" lang="nl" sz="1200">
                <a:solidFill>
                  <a:srgbClr val="3D3B49"/>
                </a:solidFill>
                <a:highlight>
                  <a:srgbClr val="FFFFFF"/>
                </a:highlight>
                <a:latin typeface="Times New Roman"/>
                <a:ea typeface="Times New Roman"/>
                <a:cs typeface="Times New Roman"/>
                <a:sym typeface="Times New Roman"/>
              </a:rPr>
              <a:t>Effort required to analyze automated test incidents.</a:t>
            </a:r>
            <a:r>
              <a:rPr lang="nl" sz="1200">
                <a:solidFill>
                  <a:srgbClr val="3D3B49"/>
                </a:solidFill>
                <a:highlight>
                  <a:srgbClr val="FFFFFF"/>
                </a:highlight>
                <a:latin typeface="Times New Roman"/>
                <a:ea typeface="Times New Roman"/>
                <a:cs typeface="Times New Roman"/>
                <a:sym typeface="Times New Roman"/>
              </a:rPr>
              <a:t> An external metric that provides insight into the efficiency of the troubleshooting process and that helps to identify optimization potential or weaknesses in the process.</a:t>
            </a:r>
            <a:endParaRPr sz="1200">
              <a:solidFill>
                <a:srgbClr val="3D3B49"/>
              </a:solidFill>
              <a:highlight>
                <a:srgbClr val="FFFFFF"/>
              </a:highlight>
              <a:latin typeface="Times New Roman"/>
              <a:ea typeface="Times New Roman"/>
              <a:cs typeface="Times New Roman"/>
              <a:sym typeface="Times New Roman"/>
            </a:endParaRPr>
          </a:p>
          <a:p>
            <a:pPr indent="-304800" lvl="0" marL="685800" rtl="0" algn="l">
              <a:lnSpc>
                <a:spcPct val="175000"/>
              </a:lnSpc>
              <a:spcBef>
                <a:spcPts val="0"/>
              </a:spcBef>
              <a:spcAft>
                <a:spcPts val="0"/>
              </a:spcAft>
              <a:buClr>
                <a:srgbClr val="3D3B49"/>
              </a:buClr>
              <a:buSzPts val="1200"/>
              <a:buFont typeface="Times New Roman"/>
              <a:buChar char="●"/>
            </a:pPr>
            <a:r>
              <a:rPr lang="nl" sz="1800">
                <a:solidFill>
                  <a:srgbClr val="D9D9D9"/>
                </a:solidFill>
                <a:highlight>
                  <a:srgbClr val="FFFFFF"/>
                </a:highlight>
                <a:latin typeface="Times New Roman"/>
                <a:ea typeface="Times New Roman"/>
                <a:cs typeface="Times New Roman"/>
                <a:sym typeface="Times New Roman"/>
              </a:rPr>
              <a:t>■</a:t>
            </a:r>
            <a:r>
              <a:rPr b="1" lang="nl" sz="1200">
                <a:solidFill>
                  <a:srgbClr val="3D3B49"/>
                </a:solidFill>
                <a:highlight>
                  <a:srgbClr val="FFFFFF"/>
                </a:highlight>
                <a:latin typeface="Times New Roman"/>
                <a:ea typeface="Times New Roman"/>
                <a:cs typeface="Times New Roman"/>
                <a:sym typeface="Times New Roman"/>
              </a:rPr>
              <a:t>Effort required to maintain automated tests.</a:t>
            </a:r>
            <a:r>
              <a:rPr lang="nl" sz="1200">
                <a:solidFill>
                  <a:srgbClr val="3D3B49"/>
                </a:solidFill>
                <a:highlight>
                  <a:srgbClr val="FFFFFF"/>
                </a:highlight>
                <a:latin typeface="Times New Roman"/>
                <a:ea typeface="Times New Roman"/>
                <a:cs typeface="Times New Roman"/>
                <a:sym typeface="Times New Roman"/>
              </a:rPr>
              <a:t> An external metric that can reveal weaknesses in the TAS (for example, insufficient abstraction in test case descriptions) as well as in SUT/TAS synchronization (for example, when changes to user interface are not adequately communicated).</a:t>
            </a:r>
            <a:endParaRPr sz="1200">
              <a:solidFill>
                <a:srgbClr val="3D3B49"/>
              </a:solidFill>
              <a:highlight>
                <a:srgbClr val="FFFFFF"/>
              </a:highlight>
              <a:latin typeface="Times New Roman"/>
              <a:ea typeface="Times New Roman"/>
              <a:cs typeface="Times New Roman"/>
              <a:sym typeface="Times New Roman"/>
            </a:endParaRPr>
          </a:p>
          <a:p>
            <a:pPr indent="-304800" lvl="0" marL="685800" rtl="0" algn="l">
              <a:lnSpc>
                <a:spcPct val="175000"/>
              </a:lnSpc>
              <a:spcBef>
                <a:spcPts val="0"/>
              </a:spcBef>
              <a:spcAft>
                <a:spcPts val="0"/>
              </a:spcAft>
              <a:buClr>
                <a:srgbClr val="3D3B49"/>
              </a:buClr>
              <a:buSzPts val="1200"/>
              <a:buFont typeface="Times New Roman"/>
              <a:buChar char="●"/>
            </a:pPr>
            <a:r>
              <a:rPr lang="nl" sz="1800">
                <a:solidFill>
                  <a:srgbClr val="D9D9D9"/>
                </a:solidFill>
                <a:highlight>
                  <a:srgbClr val="FFFFFF"/>
                </a:highlight>
                <a:latin typeface="Times New Roman"/>
                <a:ea typeface="Times New Roman"/>
                <a:cs typeface="Times New Roman"/>
                <a:sym typeface="Times New Roman"/>
              </a:rPr>
              <a:t>■</a:t>
            </a:r>
            <a:r>
              <a:rPr b="1" lang="nl" sz="1200">
                <a:solidFill>
                  <a:srgbClr val="3D3B49"/>
                </a:solidFill>
                <a:highlight>
                  <a:srgbClr val="FFFFFF"/>
                </a:highlight>
                <a:latin typeface="Times New Roman"/>
                <a:ea typeface="Times New Roman"/>
                <a:cs typeface="Times New Roman"/>
                <a:sym typeface="Times New Roman"/>
              </a:rPr>
              <a:t>Ratio of failures to defects.</a:t>
            </a:r>
            <a:r>
              <a:rPr lang="nl" sz="1200">
                <a:solidFill>
                  <a:srgbClr val="3D3B49"/>
                </a:solidFill>
                <a:highlight>
                  <a:srgbClr val="FFFFFF"/>
                </a:highlight>
                <a:latin typeface="Times New Roman"/>
                <a:ea typeface="Times New Roman"/>
                <a:cs typeface="Times New Roman"/>
                <a:sym typeface="Times New Roman"/>
              </a:rPr>
              <a:t> An external metric used to evaluate the efficiency of automated testing in finding defects. If multiple tests frequently reveal the same defects, this indicates a potential waste of resources.</a:t>
            </a:r>
            <a:endParaRPr sz="1200">
              <a:solidFill>
                <a:srgbClr val="3D3B49"/>
              </a:solidFill>
              <a:highlight>
                <a:srgbClr val="FFFFFF"/>
              </a:highlight>
              <a:latin typeface="Times New Roman"/>
              <a:ea typeface="Times New Roman"/>
              <a:cs typeface="Times New Roman"/>
              <a:sym typeface="Times New Roman"/>
            </a:endParaRPr>
          </a:p>
          <a:p>
            <a:pPr indent="-304800" lvl="0" marL="685800" rtl="0" algn="l">
              <a:lnSpc>
                <a:spcPct val="175000"/>
              </a:lnSpc>
              <a:spcBef>
                <a:spcPts val="0"/>
              </a:spcBef>
              <a:spcAft>
                <a:spcPts val="0"/>
              </a:spcAft>
              <a:buClr>
                <a:srgbClr val="3D3B49"/>
              </a:buClr>
              <a:buSzPts val="1200"/>
              <a:buFont typeface="Times New Roman"/>
              <a:buChar char="●"/>
            </a:pPr>
            <a:r>
              <a:rPr lang="nl" sz="1800">
                <a:solidFill>
                  <a:srgbClr val="D9D9D9"/>
                </a:solidFill>
                <a:highlight>
                  <a:srgbClr val="FFFFFF"/>
                </a:highlight>
                <a:latin typeface="Times New Roman"/>
                <a:ea typeface="Times New Roman"/>
                <a:cs typeface="Times New Roman"/>
                <a:sym typeface="Times New Roman"/>
              </a:rPr>
              <a:t>■</a:t>
            </a:r>
            <a:r>
              <a:rPr b="1" lang="nl" sz="1200">
                <a:solidFill>
                  <a:srgbClr val="3D3B49"/>
                </a:solidFill>
                <a:highlight>
                  <a:srgbClr val="FFFFFF"/>
                </a:highlight>
                <a:latin typeface="Times New Roman"/>
                <a:ea typeface="Times New Roman"/>
                <a:cs typeface="Times New Roman"/>
                <a:sym typeface="Times New Roman"/>
              </a:rPr>
              <a:t>Time to execute automated tests.</a:t>
            </a:r>
            <a:r>
              <a:rPr lang="nl" sz="1200">
                <a:solidFill>
                  <a:srgbClr val="3D3B49"/>
                </a:solidFill>
                <a:highlight>
                  <a:srgbClr val="FFFFFF"/>
                </a:highlight>
                <a:latin typeface="Times New Roman"/>
                <a:ea typeface="Times New Roman"/>
                <a:cs typeface="Times New Roman"/>
                <a:sym typeface="Times New Roman"/>
              </a:rPr>
              <a:t> An external metric that determines whether a certain amount of test cases can be executed within a predefined time window (for example, regression tests in a two-hour nightly), but also to detect trends (improvements and downturns).</a:t>
            </a:r>
            <a:endParaRPr sz="1200">
              <a:solidFill>
                <a:srgbClr val="3D3B49"/>
              </a:solidFill>
              <a:highlight>
                <a:srgbClr val="FFFFFF"/>
              </a:highlight>
              <a:latin typeface="Times New Roman"/>
              <a:ea typeface="Times New Roman"/>
              <a:cs typeface="Times New Roman"/>
              <a:sym typeface="Times New Roman"/>
            </a:endParaRPr>
          </a:p>
          <a:p>
            <a:pPr indent="-304800" lvl="0" marL="685800" rtl="0" algn="l">
              <a:lnSpc>
                <a:spcPct val="175000"/>
              </a:lnSpc>
              <a:spcBef>
                <a:spcPts val="0"/>
              </a:spcBef>
              <a:spcAft>
                <a:spcPts val="0"/>
              </a:spcAft>
              <a:buClr>
                <a:srgbClr val="3D3B49"/>
              </a:buClr>
              <a:buSzPts val="1200"/>
              <a:buFont typeface="Times New Roman"/>
              <a:buChar char="●"/>
            </a:pPr>
            <a:r>
              <a:rPr lang="nl" sz="1800">
                <a:solidFill>
                  <a:srgbClr val="D9D9D9"/>
                </a:solidFill>
                <a:highlight>
                  <a:srgbClr val="FFFFFF"/>
                </a:highlight>
                <a:latin typeface="Times New Roman"/>
                <a:ea typeface="Times New Roman"/>
                <a:cs typeface="Times New Roman"/>
                <a:sym typeface="Times New Roman"/>
              </a:rPr>
              <a:t>■</a:t>
            </a:r>
            <a:r>
              <a:rPr b="1" lang="nl" sz="1200">
                <a:solidFill>
                  <a:srgbClr val="3D3B49"/>
                </a:solidFill>
                <a:highlight>
                  <a:srgbClr val="FFFFFF"/>
                </a:highlight>
                <a:latin typeface="Times New Roman"/>
                <a:ea typeface="Times New Roman"/>
                <a:cs typeface="Times New Roman"/>
                <a:sym typeface="Times New Roman"/>
              </a:rPr>
              <a:t>Number of automated test cases.</a:t>
            </a:r>
            <a:r>
              <a:rPr lang="nl" sz="1200">
                <a:solidFill>
                  <a:srgbClr val="3D3B49"/>
                </a:solidFill>
                <a:highlight>
                  <a:srgbClr val="FFFFFF"/>
                </a:highlight>
                <a:latin typeface="Times New Roman"/>
                <a:ea typeface="Times New Roman"/>
                <a:cs typeface="Times New Roman"/>
                <a:sym typeface="Times New Roman"/>
              </a:rPr>
              <a:t> An external metric that provides little insight when viewed in isolation. However, as a trend and in the context of other metrics (for example, coverage rate), it enables you to draw conclusions regarding overall project progress.</a:t>
            </a:r>
            <a:endParaRPr sz="1200">
              <a:solidFill>
                <a:srgbClr val="3D3B49"/>
              </a:solidFill>
              <a:highlight>
                <a:srgbClr val="FFFFFF"/>
              </a:highlight>
              <a:latin typeface="Times New Roman"/>
              <a:ea typeface="Times New Roman"/>
              <a:cs typeface="Times New Roman"/>
              <a:sym typeface="Times New Roman"/>
            </a:endParaRPr>
          </a:p>
          <a:p>
            <a:pPr indent="-304800" lvl="0" marL="685800" rtl="0" algn="l">
              <a:lnSpc>
                <a:spcPct val="175000"/>
              </a:lnSpc>
              <a:spcBef>
                <a:spcPts val="0"/>
              </a:spcBef>
              <a:spcAft>
                <a:spcPts val="0"/>
              </a:spcAft>
              <a:buClr>
                <a:srgbClr val="3D3B49"/>
              </a:buClr>
              <a:buSzPts val="1200"/>
              <a:buFont typeface="Times New Roman"/>
              <a:buChar char="●"/>
            </a:pPr>
            <a:r>
              <a:rPr lang="nl" sz="1800">
                <a:solidFill>
                  <a:srgbClr val="D9D9D9"/>
                </a:solidFill>
                <a:highlight>
                  <a:srgbClr val="FFFFFF"/>
                </a:highlight>
                <a:latin typeface="Times New Roman"/>
                <a:ea typeface="Times New Roman"/>
                <a:cs typeface="Times New Roman"/>
                <a:sym typeface="Times New Roman"/>
              </a:rPr>
              <a:t>■</a:t>
            </a:r>
            <a:r>
              <a:rPr b="1" lang="nl" sz="1200">
                <a:solidFill>
                  <a:srgbClr val="3D3B49"/>
                </a:solidFill>
                <a:highlight>
                  <a:srgbClr val="FFFFFF"/>
                </a:highlight>
                <a:latin typeface="Times New Roman"/>
                <a:ea typeface="Times New Roman"/>
                <a:cs typeface="Times New Roman"/>
                <a:sym typeface="Times New Roman"/>
              </a:rPr>
              <a:t>Number of pass and fail results.</a:t>
            </a:r>
            <a:r>
              <a:rPr lang="nl" sz="1200">
                <a:solidFill>
                  <a:srgbClr val="3D3B49"/>
                </a:solidFill>
                <a:highlight>
                  <a:srgbClr val="FFFFFF"/>
                </a:highlight>
                <a:latin typeface="Times New Roman"/>
                <a:ea typeface="Times New Roman"/>
                <a:cs typeface="Times New Roman"/>
                <a:sym typeface="Times New Roman"/>
              </a:rPr>
              <a:t> An external metric that provides a quick overview of the overall state of the SUT and the TAS. However, to serve as a basis for decision-making, the cause of the failures must also be analyzed and evaluated.</a:t>
            </a:r>
            <a:endParaRPr sz="1200">
              <a:solidFill>
                <a:srgbClr val="3D3B49"/>
              </a:solidFill>
              <a:highlight>
                <a:srgbClr val="FFFFFF"/>
              </a:highlight>
              <a:latin typeface="Times New Roman"/>
              <a:ea typeface="Times New Roman"/>
              <a:cs typeface="Times New Roman"/>
              <a:sym typeface="Times New Roman"/>
            </a:endParaRPr>
          </a:p>
          <a:p>
            <a:pPr indent="-304800" lvl="0" marL="685800" rtl="0" algn="l">
              <a:lnSpc>
                <a:spcPct val="175000"/>
              </a:lnSpc>
              <a:spcBef>
                <a:spcPts val="0"/>
              </a:spcBef>
              <a:spcAft>
                <a:spcPts val="0"/>
              </a:spcAft>
              <a:buClr>
                <a:srgbClr val="3D3B49"/>
              </a:buClr>
              <a:buSzPts val="1200"/>
              <a:buFont typeface="Times New Roman"/>
              <a:buChar char="●"/>
            </a:pPr>
            <a:r>
              <a:rPr lang="nl" sz="1800">
                <a:solidFill>
                  <a:srgbClr val="D9D9D9"/>
                </a:solidFill>
                <a:highlight>
                  <a:srgbClr val="FFFFFF"/>
                </a:highlight>
                <a:latin typeface="Times New Roman"/>
                <a:ea typeface="Times New Roman"/>
                <a:cs typeface="Times New Roman"/>
                <a:sym typeface="Times New Roman"/>
              </a:rPr>
              <a:t>■</a:t>
            </a:r>
            <a:r>
              <a:rPr b="1" lang="nl" sz="1200">
                <a:solidFill>
                  <a:srgbClr val="3D3B49"/>
                </a:solidFill>
                <a:highlight>
                  <a:srgbClr val="FFFFFF"/>
                </a:highlight>
                <a:latin typeface="Times New Roman"/>
                <a:ea typeface="Times New Roman"/>
                <a:cs typeface="Times New Roman"/>
                <a:sym typeface="Times New Roman"/>
              </a:rPr>
              <a:t>Number of false-positive and false-negative results.</a:t>
            </a:r>
            <a:r>
              <a:rPr lang="nl" sz="1200">
                <a:solidFill>
                  <a:srgbClr val="3D3B49"/>
                </a:solidFill>
                <a:highlight>
                  <a:srgbClr val="FFFFFF"/>
                </a:highlight>
                <a:latin typeface="Times New Roman"/>
                <a:ea typeface="Times New Roman"/>
                <a:cs typeface="Times New Roman"/>
                <a:sym typeface="Times New Roman"/>
              </a:rPr>
              <a:t> An external metric that helps to identify avoidable additional work, but that also points to weaknesses in the TAS itself or in TAS/SUT synchronization.</a:t>
            </a:r>
            <a:endParaRPr sz="1200">
              <a:solidFill>
                <a:srgbClr val="3D3B49"/>
              </a:solidFill>
              <a:highlight>
                <a:srgbClr val="FFFFFF"/>
              </a:highlight>
              <a:latin typeface="Times New Roman"/>
              <a:ea typeface="Times New Roman"/>
              <a:cs typeface="Times New Roman"/>
              <a:sym typeface="Times New Roman"/>
            </a:endParaRPr>
          </a:p>
          <a:p>
            <a:pPr indent="-304800" lvl="0" marL="685800" rtl="0" algn="l">
              <a:lnSpc>
                <a:spcPct val="175000"/>
              </a:lnSpc>
              <a:spcBef>
                <a:spcPts val="0"/>
              </a:spcBef>
              <a:spcAft>
                <a:spcPts val="0"/>
              </a:spcAft>
              <a:buClr>
                <a:srgbClr val="3D3B49"/>
              </a:buClr>
              <a:buSzPts val="1200"/>
              <a:buFont typeface="Times New Roman"/>
              <a:buChar char="●"/>
            </a:pPr>
            <a:r>
              <a:rPr lang="nl" sz="1800">
                <a:solidFill>
                  <a:srgbClr val="D9D9D9"/>
                </a:solidFill>
                <a:highlight>
                  <a:srgbClr val="FFFFFF"/>
                </a:highlight>
                <a:latin typeface="Times New Roman"/>
                <a:ea typeface="Times New Roman"/>
                <a:cs typeface="Times New Roman"/>
                <a:sym typeface="Times New Roman"/>
              </a:rPr>
              <a:t>■</a:t>
            </a:r>
            <a:r>
              <a:rPr b="1" lang="nl" sz="1200">
                <a:solidFill>
                  <a:srgbClr val="3D3B49"/>
                </a:solidFill>
                <a:highlight>
                  <a:srgbClr val="FFFFFF"/>
                </a:highlight>
                <a:latin typeface="Times New Roman"/>
                <a:ea typeface="Times New Roman"/>
                <a:cs typeface="Times New Roman"/>
                <a:sym typeface="Times New Roman"/>
              </a:rPr>
              <a:t>Code coverage.</a:t>
            </a:r>
            <a:r>
              <a:rPr lang="nl" sz="1200">
                <a:solidFill>
                  <a:srgbClr val="3D3B49"/>
                </a:solidFill>
                <a:highlight>
                  <a:srgbClr val="FFFFFF"/>
                </a:highlight>
                <a:latin typeface="Times New Roman"/>
                <a:ea typeface="Times New Roman"/>
                <a:cs typeface="Times New Roman"/>
                <a:sym typeface="Times New Roman"/>
              </a:rPr>
              <a:t> An external metric that can measure both code and requirements coverage. When captured and viewed objectively, it provides information about project progress, but also about insufficiently tested test objects.</a:t>
            </a:r>
            <a:endParaRPr sz="1200">
              <a:solidFill>
                <a:srgbClr val="3D3B49"/>
              </a:solidFill>
              <a:highlight>
                <a:srgbClr val="FFFFFF"/>
              </a:highlight>
              <a:latin typeface="Times New Roman"/>
              <a:ea typeface="Times New Roman"/>
              <a:cs typeface="Times New Roman"/>
              <a:sym typeface="Times New Roman"/>
            </a:endParaRPr>
          </a:p>
          <a:p>
            <a:pPr indent="-304800" lvl="0" marL="685800" rtl="0" algn="l">
              <a:lnSpc>
                <a:spcPct val="175000"/>
              </a:lnSpc>
              <a:spcBef>
                <a:spcPts val="0"/>
              </a:spcBef>
              <a:spcAft>
                <a:spcPts val="0"/>
              </a:spcAft>
              <a:buClr>
                <a:srgbClr val="3D3B49"/>
              </a:buClr>
              <a:buSzPts val="1200"/>
              <a:buFont typeface="Times New Roman"/>
              <a:buChar char="●"/>
            </a:pPr>
            <a:r>
              <a:rPr lang="nl" sz="1800">
                <a:solidFill>
                  <a:srgbClr val="D9D9D9"/>
                </a:solidFill>
                <a:highlight>
                  <a:srgbClr val="FFFFFF"/>
                </a:highlight>
                <a:latin typeface="Times New Roman"/>
                <a:ea typeface="Times New Roman"/>
                <a:cs typeface="Times New Roman"/>
                <a:sym typeface="Times New Roman"/>
              </a:rPr>
              <a:t>■</a:t>
            </a:r>
            <a:r>
              <a:rPr b="1" lang="nl" sz="1200">
                <a:solidFill>
                  <a:srgbClr val="3D3B49"/>
                </a:solidFill>
                <a:highlight>
                  <a:srgbClr val="FFFFFF"/>
                </a:highlight>
                <a:latin typeface="Times New Roman"/>
                <a:ea typeface="Times New Roman"/>
                <a:cs typeface="Times New Roman"/>
                <a:sym typeface="Times New Roman"/>
              </a:rPr>
              <a:t>Tool scripting metrics.</a:t>
            </a:r>
            <a:r>
              <a:rPr lang="nl" sz="1200">
                <a:solidFill>
                  <a:srgbClr val="3D3B49"/>
                </a:solidFill>
                <a:highlight>
                  <a:srgbClr val="FFFFFF"/>
                </a:highlight>
                <a:latin typeface="Times New Roman"/>
                <a:ea typeface="Times New Roman"/>
                <a:cs typeface="Times New Roman"/>
                <a:sym typeface="Times New Roman"/>
              </a:rPr>
              <a:t> A set of internal metrics that can be used to monitor the development of automation scripts. This can ensure compliance with conventions (such as style guides) and provides information about the quality of the source code (for example, lines of code, complexity of methods, coherence and cohesion of artifacts).</a:t>
            </a:r>
            <a:endParaRPr sz="1200">
              <a:solidFill>
                <a:srgbClr val="3D3B49"/>
              </a:solidFill>
              <a:highlight>
                <a:srgbClr val="FFFFFF"/>
              </a:highlight>
              <a:latin typeface="Times New Roman"/>
              <a:ea typeface="Times New Roman"/>
              <a:cs typeface="Times New Roman"/>
              <a:sym typeface="Times New Roman"/>
            </a:endParaRPr>
          </a:p>
          <a:p>
            <a:pPr indent="-304800" lvl="0" marL="685800" rtl="0" algn="l">
              <a:lnSpc>
                <a:spcPct val="175000"/>
              </a:lnSpc>
              <a:spcBef>
                <a:spcPts val="0"/>
              </a:spcBef>
              <a:spcAft>
                <a:spcPts val="0"/>
              </a:spcAft>
              <a:buClr>
                <a:srgbClr val="3D3B49"/>
              </a:buClr>
              <a:buSzPts val="1200"/>
              <a:buFont typeface="Times New Roman"/>
              <a:buChar char="●"/>
            </a:pPr>
            <a:r>
              <a:rPr lang="nl" sz="1800">
                <a:solidFill>
                  <a:srgbClr val="D9D9D9"/>
                </a:solidFill>
                <a:highlight>
                  <a:srgbClr val="FFFFFF"/>
                </a:highlight>
                <a:latin typeface="Times New Roman"/>
                <a:ea typeface="Times New Roman"/>
                <a:cs typeface="Times New Roman"/>
                <a:sym typeface="Times New Roman"/>
              </a:rPr>
              <a:t>■</a:t>
            </a:r>
            <a:r>
              <a:rPr b="1" lang="nl" sz="1200">
                <a:solidFill>
                  <a:srgbClr val="3D3B49"/>
                </a:solidFill>
                <a:highlight>
                  <a:srgbClr val="FFFFFF"/>
                </a:highlight>
                <a:latin typeface="Times New Roman"/>
                <a:ea typeface="Times New Roman"/>
                <a:cs typeface="Times New Roman"/>
                <a:sym typeface="Times New Roman"/>
              </a:rPr>
              <a:t>Automation code defect density.</a:t>
            </a:r>
            <a:r>
              <a:rPr lang="nl" sz="1200">
                <a:solidFill>
                  <a:srgbClr val="3D3B49"/>
                </a:solidFill>
                <a:highlight>
                  <a:srgbClr val="FFFFFF"/>
                </a:highlight>
                <a:latin typeface="Times New Roman"/>
                <a:ea typeface="Times New Roman"/>
                <a:cs typeface="Times New Roman"/>
                <a:sym typeface="Times New Roman"/>
              </a:rPr>
              <a:t> An internal metric that is particularly relevant when defects in the TAS result in a high level of additional work.</a:t>
            </a:r>
            <a:endParaRPr sz="1200">
              <a:solidFill>
                <a:srgbClr val="3D3B49"/>
              </a:solidFill>
              <a:highlight>
                <a:srgbClr val="FFFFFF"/>
              </a:highlight>
              <a:latin typeface="Times New Roman"/>
              <a:ea typeface="Times New Roman"/>
              <a:cs typeface="Times New Roman"/>
              <a:sym typeface="Times New Roman"/>
            </a:endParaRPr>
          </a:p>
          <a:p>
            <a:pPr indent="-304800" lvl="0" marL="685800" rtl="0" algn="l">
              <a:lnSpc>
                <a:spcPct val="175000"/>
              </a:lnSpc>
              <a:spcBef>
                <a:spcPts val="0"/>
              </a:spcBef>
              <a:spcAft>
                <a:spcPts val="0"/>
              </a:spcAft>
              <a:buClr>
                <a:srgbClr val="3D3B49"/>
              </a:buClr>
              <a:buSzPts val="1200"/>
              <a:buFont typeface="Times New Roman"/>
              <a:buChar char="●"/>
            </a:pPr>
            <a:r>
              <a:rPr lang="nl" sz="1800">
                <a:solidFill>
                  <a:srgbClr val="D9D9D9"/>
                </a:solidFill>
                <a:highlight>
                  <a:srgbClr val="FFFFFF"/>
                </a:highlight>
                <a:latin typeface="Times New Roman"/>
                <a:ea typeface="Times New Roman"/>
                <a:cs typeface="Times New Roman"/>
                <a:sym typeface="Times New Roman"/>
              </a:rPr>
              <a:t>■</a:t>
            </a:r>
            <a:r>
              <a:rPr b="1" lang="nl" sz="1200">
                <a:solidFill>
                  <a:srgbClr val="3D3B49"/>
                </a:solidFill>
                <a:highlight>
                  <a:srgbClr val="FFFFFF"/>
                </a:highlight>
                <a:latin typeface="Times New Roman"/>
                <a:ea typeface="Times New Roman"/>
                <a:cs typeface="Times New Roman"/>
                <a:sym typeface="Times New Roman"/>
              </a:rPr>
              <a:t>Speed and efficiency of TAS components.</a:t>
            </a:r>
            <a:r>
              <a:rPr lang="nl" sz="1200">
                <a:solidFill>
                  <a:srgbClr val="3D3B49"/>
                </a:solidFill>
                <a:highlight>
                  <a:srgbClr val="FFFFFF"/>
                </a:highlight>
                <a:latin typeface="Times New Roman"/>
                <a:ea typeface="Times New Roman"/>
                <a:cs typeface="Times New Roman"/>
                <a:sym typeface="Times New Roman"/>
              </a:rPr>
              <a:t> A primarily internal metric, useful especially when optimization measures are planned or implemented. This is the only way to objectively evaluate the success of such measures.</a:t>
            </a:r>
            <a:endParaRPr sz="1200">
              <a:solidFill>
                <a:srgbClr val="3D3B49"/>
              </a:solidFill>
              <a:highlight>
                <a:srgbClr val="FFFFFF"/>
              </a:highlight>
              <a:latin typeface="Times New Roman"/>
              <a:ea typeface="Times New Roman"/>
              <a:cs typeface="Times New Roman"/>
              <a:sym typeface="Times New Roman"/>
            </a:endParaRPr>
          </a:p>
          <a:p>
            <a:pPr indent="0" lvl="0" marL="0" rtl="0" algn="l">
              <a:spcBef>
                <a:spcPts val="18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1bf178e93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1bf178e93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1bf178e93b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1bf178e93b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1bf178e93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1bf178e93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1bf178e93b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1bf178e93b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1bf178e93b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1bf178e93b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1bf178e93b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1bf178e93b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Did something go wrong with the test automation during release 3?</a:t>
            </a:r>
            <a:endParaRPr/>
          </a:p>
          <a:p>
            <a:pPr indent="-298450" lvl="0" marL="457200" rtl="0" algn="l">
              <a:spcBef>
                <a:spcPts val="0"/>
              </a:spcBef>
              <a:spcAft>
                <a:spcPts val="0"/>
              </a:spcAft>
              <a:buSzPts val="1100"/>
              <a:buChar char="-"/>
            </a:pPr>
            <a:r>
              <a:rPr lang="nl"/>
              <a:t>Other reasons: many new users, size of release, …</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1bf178e93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1bf178e93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1bf178e93b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1bf178e93b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Measuring the success of the TAS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1bf178e93b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1bf178e93b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800"/>
              </a:spcBef>
              <a:spcAft>
                <a:spcPts val="0"/>
              </a:spcAft>
              <a:buClr>
                <a:schemeClr val="dk1"/>
              </a:buClr>
              <a:buSzPts val="1100"/>
              <a:buFont typeface="Arial"/>
              <a:buNone/>
            </a:pPr>
            <a:r>
              <a:rPr lang="nl" sz="1800">
                <a:solidFill>
                  <a:schemeClr val="dk1"/>
                </a:solidFill>
              </a:rPr>
              <a:t>mvn clean verify -Dbase.url=http://localhost:8080/</a:t>
            </a:r>
            <a:endParaRPr sz="18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1bf178e93b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1bf178e93b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1bf178e93b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1bf178e93b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u="sng">
                <a:solidFill>
                  <a:schemeClr val="hlink"/>
                </a:solidFill>
                <a:hlinkClick r:id="rId2"/>
              </a:rPr>
              <a:t>https://maven.apache.org/guides/introduction/introduction-to-the-lifecycle.html#Lifecycle_Reference</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Which phases will be executed with the command mvn clean install?</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1bf178e93b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1bf178e93b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1bf178e93b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1bf178e93b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sz="1050">
                <a:solidFill>
                  <a:srgbClr val="333333"/>
                </a:solidFill>
                <a:highlight>
                  <a:srgbClr val="FFFFFF"/>
                </a:highlight>
              </a:rPr>
              <a:t>A plugin goal represents a specific task (finer than a build phase) which contributes to the building and managing of a project. It may be bound to zero or more build phases. A goal not bound to any build phase could be executed outside of the build lifecycle by direct invocation. The order of execution depends on the order in which the goal(s) and the build phase(s) are invoked.</a:t>
            </a:r>
            <a:endParaRPr sz="1050">
              <a:solidFill>
                <a:srgbClr val="333333"/>
              </a:solidFill>
              <a:highlight>
                <a:srgbClr val="FFFFFF"/>
              </a:highlight>
            </a:endParaRPr>
          </a:p>
          <a:p>
            <a:pPr indent="0" lvl="0" marL="0" rtl="0" algn="l">
              <a:spcBef>
                <a:spcPts val="0"/>
              </a:spcBef>
              <a:spcAft>
                <a:spcPts val="0"/>
              </a:spcAft>
              <a:buNone/>
            </a:pPr>
            <a:r>
              <a:t/>
            </a:r>
            <a:endParaRPr sz="1050">
              <a:solidFill>
                <a:srgbClr val="333333"/>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nl" sz="1050">
                <a:solidFill>
                  <a:srgbClr val="333333"/>
                </a:solidFill>
                <a:highlight>
                  <a:srgbClr val="FFFFFF"/>
                </a:highlight>
              </a:rPr>
              <a:t>For example, consider the command below. The </a:t>
            </a:r>
            <a:r>
              <a:rPr lang="nl" sz="900">
                <a:solidFill>
                  <a:srgbClr val="DD1144"/>
                </a:solidFill>
                <a:highlight>
                  <a:srgbClr val="F7F7F9"/>
                </a:highlight>
                <a:latin typeface="Courier New"/>
                <a:ea typeface="Courier New"/>
                <a:cs typeface="Courier New"/>
                <a:sym typeface="Courier New"/>
              </a:rPr>
              <a:t>clean</a:t>
            </a:r>
            <a:r>
              <a:rPr lang="nl" sz="1050">
                <a:solidFill>
                  <a:srgbClr val="333333"/>
                </a:solidFill>
                <a:highlight>
                  <a:srgbClr val="FFFFFF"/>
                </a:highlight>
              </a:rPr>
              <a:t> and </a:t>
            </a:r>
            <a:r>
              <a:rPr lang="nl" sz="900">
                <a:solidFill>
                  <a:srgbClr val="DD1144"/>
                </a:solidFill>
                <a:highlight>
                  <a:srgbClr val="F7F7F9"/>
                </a:highlight>
                <a:latin typeface="Courier New"/>
                <a:ea typeface="Courier New"/>
                <a:cs typeface="Courier New"/>
                <a:sym typeface="Courier New"/>
              </a:rPr>
              <a:t>package</a:t>
            </a:r>
            <a:r>
              <a:rPr lang="nl" sz="1050">
                <a:solidFill>
                  <a:srgbClr val="333333"/>
                </a:solidFill>
                <a:highlight>
                  <a:srgbClr val="FFFFFF"/>
                </a:highlight>
              </a:rPr>
              <a:t> arguments are build phases, while the </a:t>
            </a:r>
            <a:r>
              <a:rPr lang="nl" sz="900">
                <a:solidFill>
                  <a:srgbClr val="DD1144"/>
                </a:solidFill>
                <a:highlight>
                  <a:srgbClr val="F7F7F9"/>
                </a:highlight>
                <a:latin typeface="Courier New"/>
                <a:ea typeface="Courier New"/>
                <a:cs typeface="Courier New"/>
                <a:sym typeface="Courier New"/>
              </a:rPr>
              <a:t>dependency:copy-dependencies</a:t>
            </a:r>
            <a:r>
              <a:rPr lang="nl" sz="1050">
                <a:solidFill>
                  <a:srgbClr val="333333"/>
                </a:solidFill>
                <a:highlight>
                  <a:srgbClr val="FFFFFF"/>
                </a:highlight>
              </a:rPr>
              <a:t> is a goal (of a plugin).</a:t>
            </a:r>
            <a:endParaRPr sz="1050">
              <a:solidFill>
                <a:srgbClr val="333333"/>
              </a:solidFill>
              <a:highlight>
                <a:srgbClr val="FFFFFF"/>
              </a:highlight>
            </a:endParaRPr>
          </a:p>
          <a:p>
            <a:pPr indent="0" lvl="0" marL="88900" marR="88900" rtl="0" algn="l">
              <a:lnSpc>
                <a:spcPct val="150000"/>
              </a:lnSpc>
              <a:spcBef>
                <a:spcPts val="800"/>
              </a:spcBef>
              <a:spcAft>
                <a:spcPts val="0"/>
              </a:spcAft>
              <a:buClr>
                <a:schemeClr val="dk1"/>
              </a:buClr>
              <a:buSzPts val="1100"/>
              <a:buFont typeface="Arial"/>
              <a:buNone/>
            </a:pPr>
            <a:r>
              <a:rPr lang="nl" sz="1000">
                <a:solidFill>
                  <a:srgbClr val="333333"/>
                </a:solidFill>
                <a:highlight>
                  <a:srgbClr val="F5F5F5"/>
                </a:highlight>
                <a:latin typeface="Courier New"/>
                <a:ea typeface="Courier New"/>
                <a:cs typeface="Courier New"/>
                <a:sym typeface="Courier New"/>
              </a:rPr>
              <a:t>mvn clean dependency:copy-dependencies package</a:t>
            </a:r>
            <a:endParaRPr sz="1000">
              <a:solidFill>
                <a:srgbClr val="333333"/>
              </a:solidFill>
              <a:highlight>
                <a:srgbClr val="F5F5F5"/>
              </a:highlight>
              <a:latin typeface="Courier New"/>
              <a:ea typeface="Courier New"/>
              <a:cs typeface="Courier New"/>
              <a:sym typeface="Courier New"/>
            </a:endParaRPr>
          </a:p>
          <a:p>
            <a:pPr indent="0" lvl="0" marL="0" rtl="0" algn="l">
              <a:lnSpc>
                <a:spcPct val="115000"/>
              </a:lnSpc>
              <a:spcBef>
                <a:spcPts val="800"/>
              </a:spcBef>
              <a:spcAft>
                <a:spcPts val="0"/>
              </a:spcAft>
              <a:buClr>
                <a:schemeClr val="dk1"/>
              </a:buClr>
              <a:buSzPts val="1100"/>
              <a:buFont typeface="Arial"/>
              <a:buNone/>
            </a:pPr>
            <a:r>
              <a:rPr lang="nl" sz="1050">
                <a:solidFill>
                  <a:srgbClr val="333333"/>
                </a:solidFill>
                <a:highlight>
                  <a:srgbClr val="FFFFFF"/>
                </a:highlight>
              </a:rPr>
              <a:t>If this were to be executed, the </a:t>
            </a:r>
            <a:r>
              <a:rPr lang="nl" sz="900">
                <a:solidFill>
                  <a:srgbClr val="DD1144"/>
                </a:solidFill>
                <a:highlight>
                  <a:srgbClr val="F7F7F9"/>
                </a:highlight>
                <a:latin typeface="Courier New"/>
                <a:ea typeface="Courier New"/>
                <a:cs typeface="Courier New"/>
                <a:sym typeface="Courier New"/>
              </a:rPr>
              <a:t>clean</a:t>
            </a:r>
            <a:r>
              <a:rPr lang="nl" sz="1050">
                <a:solidFill>
                  <a:srgbClr val="333333"/>
                </a:solidFill>
                <a:highlight>
                  <a:srgbClr val="FFFFFF"/>
                </a:highlight>
              </a:rPr>
              <a:t> phase will be executed first (meaning it will run all preceding phases of the clean lifecycle, plus the </a:t>
            </a:r>
            <a:r>
              <a:rPr lang="nl" sz="900">
                <a:solidFill>
                  <a:srgbClr val="DD1144"/>
                </a:solidFill>
                <a:highlight>
                  <a:srgbClr val="F7F7F9"/>
                </a:highlight>
                <a:latin typeface="Courier New"/>
                <a:ea typeface="Courier New"/>
                <a:cs typeface="Courier New"/>
                <a:sym typeface="Courier New"/>
              </a:rPr>
              <a:t>clean</a:t>
            </a:r>
            <a:r>
              <a:rPr lang="nl" sz="1050">
                <a:solidFill>
                  <a:srgbClr val="333333"/>
                </a:solidFill>
                <a:highlight>
                  <a:srgbClr val="FFFFFF"/>
                </a:highlight>
              </a:rPr>
              <a:t> phase itself), and then the </a:t>
            </a:r>
            <a:r>
              <a:rPr lang="nl" sz="900">
                <a:solidFill>
                  <a:srgbClr val="DD1144"/>
                </a:solidFill>
                <a:highlight>
                  <a:srgbClr val="F7F7F9"/>
                </a:highlight>
                <a:latin typeface="Courier New"/>
                <a:ea typeface="Courier New"/>
                <a:cs typeface="Courier New"/>
                <a:sym typeface="Courier New"/>
              </a:rPr>
              <a:t>dependency:copy-dependencies</a:t>
            </a:r>
            <a:r>
              <a:rPr lang="nl" sz="1050">
                <a:solidFill>
                  <a:srgbClr val="333333"/>
                </a:solidFill>
                <a:highlight>
                  <a:srgbClr val="FFFFFF"/>
                </a:highlight>
              </a:rPr>
              <a:t> goal, before finally executing the </a:t>
            </a:r>
            <a:r>
              <a:rPr lang="nl" sz="900">
                <a:solidFill>
                  <a:srgbClr val="DD1144"/>
                </a:solidFill>
                <a:highlight>
                  <a:srgbClr val="F7F7F9"/>
                </a:highlight>
                <a:latin typeface="Courier New"/>
                <a:ea typeface="Courier New"/>
                <a:cs typeface="Courier New"/>
                <a:sym typeface="Courier New"/>
              </a:rPr>
              <a:t>package</a:t>
            </a:r>
            <a:r>
              <a:rPr lang="nl" sz="1050">
                <a:solidFill>
                  <a:srgbClr val="333333"/>
                </a:solidFill>
                <a:highlight>
                  <a:srgbClr val="FFFFFF"/>
                </a:highlight>
              </a:rPr>
              <a:t> phase (and all its preceding build phases of the default lifecycle).</a:t>
            </a:r>
            <a:endParaRPr sz="1050">
              <a:solidFill>
                <a:srgbClr val="333333"/>
              </a:solidFill>
              <a:highlight>
                <a:srgbClr val="FFFFFF"/>
              </a:highlight>
            </a:endParaRPr>
          </a:p>
          <a:p>
            <a:pPr indent="0" lvl="0" marL="0" rtl="0" algn="l">
              <a:spcBef>
                <a:spcPts val="800"/>
              </a:spcBef>
              <a:spcAft>
                <a:spcPts val="0"/>
              </a:spcAft>
              <a:buNone/>
            </a:pPr>
            <a:r>
              <a:rPr lang="nl" sz="1050">
                <a:solidFill>
                  <a:srgbClr val="333333"/>
                </a:solidFill>
                <a:highlight>
                  <a:srgbClr val="FFFFFF"/>
                </a:highlight>
              </a:rPr>
              <a:t>https://maven.apache.org/guides/introduction/introduction-to-the-lifecycle.html#a-build-phase-is-made-up-of-plugin-goals</a:t>
            </a:r>
            <a:endParaRPr sz="1050">
              <a:solidFill>
                <a:srgbClr val="333333"/>
              </a:solidFill>
              <a:highlight>
                <a:srgbClr val="FFFFFF"/>
              </a:highlight>
            </a:endParaRPr>
          </a:p>
          <a:p>
            <a:pPr indent="0" lvl="0" marL="0" rtl="0" algn="l">
              <a:spcBef>
                <a:spcPts val="0"/>
              </a:spcBef>
              <a:spcAft>
                <a:spcPts val="0"/>
              </a:spcAft>
              <a:buNone/>
            </a:pPr>
            <a:r>
              <a:t/>
            </a:r>
            <a:endParaRPr sz="1050">
              <a:solidFill>
                <a:srgbClr val="333333"/>
              </a:solidFill>
              <a:highlight>
                <a:srgbClr val="FFFFFF"/>
              </a:highlight>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1bf178e93b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1bf178e93b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1bf178e93b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1bf178e93b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nl"/>
              <a:t>copy allure-reports/history to allure-results</a:t>
            </a:r>
            <a:endParaRPr/>
          </a:p>
          <a:p>
            <a:pPr indent="0" lvl="0" marL="0" rtl="0" algn="l">
              <a:spcBef>
                <a:spcPts val="0"/>
              </a:spcBef>
              <a:spcAft>
                <a:spcPts val="0"/>
              </a:spcAft>
              <a:buNone/>
            </a:pPr>
            <a:r>
              <a:rPr lang="nl"/>
              <a:t>allure generate --clean target/allure-results/</a:t>
            </a:r>
            <a:endParaRPr/>
          </a:p>
          <a:p>
            <a:pPr indent="0" lvl="0" marL="0" rtl="0" algn="l">
              <a:spcBef>
                <a:spcPts val="0"/>
              </a:spcBef>
              <a:spcAft>
                <a:spcPts val="0"/>
              </a:spcAft>
              <a:buClr>
                <a:schemeClr val="dk1"/>
              </a:buClr>
              <a:buSzPts val="1100"/>
              <a:buFont typeface="Arial"/>
              <a:buNone/>
            </a:pPr>
            <a:r>
              <a:rPr lang="nl"/>
              <a:t>allure open allure-reports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dia">
  <p:cSld name="Titeldia">
    <p:spTree>
      <p:nvGrpSpPr>
        <p:cNvPr id="56" name="Shape 56"/>
        <p:cNvGrpSpPr/>
        <p:nvPr/>
      </p:nvGrpSpPr>
      <p:grpSpPr>
        <a:xfrm>
          <a:off x="0" y="0"/>
          <a:ext cx="0" cy="0"/>
          <a:chOff x="0" y="0"/>
          <a:chExt cx="0" cy="0"/>
        </a:xfrm>
      </p:grpSpPr>
      <p:sp>
        <p:nvSpPr>
          <p:cNvPr id="57" name="Google Shape;57;p14"/>
          <p:cNvSpPr txBox="1"/>
          <p:nvPr>
            <p:ph type="ctrTitle"/>
          </p:nvPr>
        </p:nvSpPr>
        <p:spPr>
          <a:xfrm>
            <a:off x="348915" y="1118938"/>
            <a:ext cx="3170700" cy="964500"/>
          </a:xfrm>
          <a:prstGeom prst="rect">
            <a:avLst/>
          </a:prstGeom>
          <a:noFill/>
          <a:ln>
            <a:noFill/>
          </a:ln>
        </p:spPr>
        <p:txBody>
          <a:bodyPr anchorCtr="0" anchor="t" bIns="34275" lIns="68575" spcFirstLastPara="1" rIns="68575" wrap="square" tIns="34275">
            <a:normAutofit/>
          </a:bodyPr>
          <a:lstStyle>
            <a:lvl1pPr lvl="0" rtl="0" algn="l">
              <a:lnSpc>
                <a:spcPct val="90000"/>
              </a:lnSpc>
              <a:spcBef>
                <a:spcPts val="0"/>
              </a:spcBef>
              <a:spcAft>
                <a:spcPts val="0"/>
              </a:spcAft>
              <a:buClr>
                <a:schemeClr val="dk1"/>
              </a:buClr>
              <a:buSzPts val="3300"/>
              <a:buFont typeface="Arial"/>
              <a:buNone/>
              <a:defRPr sz="33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58" name="Google Shape;58;p14"/>
          <p:cNvSpPr txBox="1"/>
          <p:nvPr>
            <p:ph idx="1" type="body"/>
          </p:nvPr>
        </p:nvSpPr>
        <p:spPr>
          <a:xfrm>
            <a:off x="348915" y="2177148"/>
            <a:ext cx="3305400" cy="11670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400"/>
              <a:buNone/>
              <a:defRPr/>
            </a:lvl1pPr>
            <a:lvl2pPr indent="-228600" lvl="1" marL="914400" rtl="0" algn="l">
              <a:lnSpc>
                <a:spcPct val="90000"/>
              </a:lnSpc>
              <a:spcBef>
                <a:spcPts val="400"/>
              </a:spcBef>
              <a:spcAft>
                <a:spcPts val="0"/>
              </a:spcAft>
              <a:buClr>
                <a:schemeClr val="dk1"/>
              </a:buClr>
              <a:buSzPts val="1400"/>
              <a:buNone/>
              <a:defRPr/>
            </a:lvl2pPr>
            <a:lvl3pPr indent="-228600" lvl="2" marL="1371600" rtl="0" algn="l">
              <a:lnSpc>
                <a:spcPct val="90000"/>
              </a:lnSpc>
              <a:spcBef>
                <a:spcPts val="400"/>
              </a:spcBef>
              <a:spcAft>
                <a:spcPts val="0"/>
              </a:spcAft>
              <a:buClr>
                <a:schemeClr val="dk1"/>
              </a:buClr>
              <a:buSzPts val="1400"/>
              <a:buNone/>
              <a:defRPr/>
            </a:lvl3pPr>
            <a:lvl4pPr indent="-228600" lvl="3" marL="1828800" rtl="0" algn="l">
              <a:lnSpc>
                <a:spcPct val="90000"/>
              </a:lnSpc>
              <a:spcBef>
                <a:spcPts val="400"/>
              </a:spcBef>
              <a:spcAft>
                <a:spcPts val="0"/>
              </a:spcAft>
              <a:buClr>
                <a:schemeClr val="dk1"/>
              </a:buClr>
              <a:buSzPts val="1400"/>
              <a:buNone/>
              <a:defRPr/>
            </a:lvl4pPr>
            <a:lvl5pPr indent="-228600" lvl="4" marL="2286000" rtl="0" algn="l">
              <a:lnSpc>
                <a:spcPct val="90000"/>
              </a:lnSpc>
              <a:spcBef>
                <a:spcPts val="400"/>
              </a:spcBef>
              <a:spcAft>
                <a:spcPts val="0"/>
              </a:spcAft>
              <a:buClr>
                <a:schemeClr val="dk1"/>
              </a:buClr>
              <a:buSzPts val="1400"/>
              <a:buNone/>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angepaste indeling">
  <p:cSld name="Aangepaste indeling">
    <p:spTree>
      <p:nvGrpSpPr>
        <p:cNvPr id="64" name="Shape 64"/>
        <p:cNvGrpSpPr/>
        <p:nvPr/>
      </p:nvGrpSpPr>
      <p:grpSpPr>
        <a:xfrm>
          <a:off x="0" y="0"/>
          <a:ext cx="0" cy="0"/>
          <a:chOff x="0" y="0"/>
          <a:chExt cx="0" cy="0"/>
        </a:xfrm>
      </p:grpSpPr>
      <p:sp>
        <p:nvSpPr>
          <p:cNvPr id="65" name="Google Shape;65;p16"/>
          <p:cNvSpPr txBox="1"/>
          <p:nvPr>
            <p:ph type="title"/>
          </p:nvPr>
        </p:nvSpPr>
        <p:spPr>
          <a:xfrm>
            <a:off x="300790" y="735367"/>
            <a:ext cx="3741900" cy="1836600"/>
          </a:xfrm>
          <a:prstGeom prst="rect">
            <a:avLst/>
          </a:prstGeom>
          <a:noFill/>
          <a:ln>
            <a:noFill/>
          </a:ln>
        </p:spPr>
        <p:txBody>
          <a:bodyPr anchorCtr="0" anchor="t"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66" name="Google Shape;66;p16"/>
          <p:cNvSpPr txBox="1"/>
          <p:nvPr>
            <p:ph idx="1" type="body"/>
          </p:nvPr>
        </p:nvSpPr>
        <p:spPr>
          <a:xfrm>
            <a:off x="300789" y="2671010"/>
            <a:ext cx="3741900" cy="1877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angepaste indeling">
  <p:cSld name="Aangepaste indeling">
    <p:spTree>
      <p:nvGrpSpPr>
        <p:cNvPr id="72" name="Shape 72"/>
        <p:cNvGrpSpPr/>
        <p:nvPr/>
      </p:nvGrpSpPr>
      <p:grpSpPr>
        <a:xfrm>
          <a:off x="0" y="0"/>
          <a:ext cx="0" cy="0"/>
          <a:chOff x="0" y="0"/>
          <a:chExt cx="0" cy="0"/>
        </a:xfrm>
      </p:grpSpPr>
      <p:sp>
        <p:nvSpPr>
          <p:cNvPr id="73" name="Google Shape;73;p18"/>
          <p:cNvSpPr txBox="1"/>
          <p:nvPr>
            <p:ph idx="12" type="sldNum"/>
          </p:nvPr>
        </p:nvSpPr>
        <p:spPr>
          <a:xfrm>
            <a:off x="7020824" y="478667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r>
              <a:rPr lang="nl"/>
              <a:t>Naam docent</a:t>
            </a:r>
            <a:endParaRPr/>
          </a:p>
        </p:txBody>
      </p:sp>
      <p:sp>
        <p:nvSpPr>
          <p:cNvPr id="74" name="Google Shape;74;p1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75" name="Google Shape;75;p18"/>
          <p:cNvSpPr txBox="1"/>
          <p:nvPr>
            <p:ph idx="1" type="body"/>
          </p:nvPr>
        </p:nvSpPr>
        <p:spPr>
          <a:xfrm>
            <a:off x="628650" y="1369219"/>
            <a:ext cx="7886700" cy="29139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400"/>
              <a:buNone/>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dia" type="title">
  <p:cSld name="TITLE">
    <p:spTree>
      <p:nvGrpSpPr>
        <p:cNvPr id="76" name="Shape 76"/>
        <p:cNvGrpSpPr/>
        <p:nvPr/>
      </p:nvGrpSpPr>
      <p:grpSpPr>
        <a:xfrm>
          <a:off x="0" y="0"/>
          <a:ext cx="0" cy="0"/>
          <a:chOff x="0" y="0"/>
          <a:chExt cx="0" cy="0"/>
        </a:xfrm>
      </p:grpSpPr>
      <p:sp>
        <p:nvSpPr>
          <p:cNvPr id="77" name="Google Shape;77;p19"/>
          <p:cNvSpPr txBox="1"/>
          <p:nvPr>
            <p:ph type="ctrTitle"/>
          </p:nvPr>
        </p:nvSpPr>
        <p:spPr>
          <a:xfrm>
            <a:off x="1143000" y="841772"/>
            <a:ext cx="6858000" cy="1790700"/>
          </a:xfrm>
          <a:prstGeom prst="rect">
            <a:avLst/>
          </a:prstGeom>
          <a:noFill/>
          <a:ln>
            <a:noFill/>
          </a:ln>
        </p:spPr>
        <p:txBody>
          <a:bodyPr anchorCtr="0" anchor="ctr" bIns="34275" lIns="68575" spcFirstLastPara="1" rIns="68575" wrap="square" tIns="34275">
            <a:normAutofit/>
          </a:bodyPr>
          <a:lstStyle>
            <a:lvl1pPr lvl="0" rtl="0" algn="ctr">
              <a:lnSpc>
                <a:spcPct val="90000"/>
              </a:lnSpc>
              <a:spcBef>
                <a:spcPts val="0"/>
              </a:spcBef>
              <a:spcAft>
                <a:spcPts val="0"/>
              </a:spcAft>
              <a:buClr>
                <a:schemeClr val="dk1"/>
              </a:buClr>
              <a:buSzPts val="4500"/>
              <a:buFont typeface="Arial"/>
              <a:buNone/>
              <a:defRPr b="0"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78" name="Google Shape;78;p19"/>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rtl="0" algn="ctr">
              <a:lnSpc>
                <a:spcPct val="90000"/>
              </a:lnSpc>
              <a:spcBef>
                <a:spcPts val="800"/>
              </a:spcBef>
              <a:spcAft>
                <a:spcPts val="0"/>
              </a:spcAft>
              <a:buClr>
                <a:schemeClr val="dk1"/>
              </a:buClr>
              <a:buSzPts val="1800"/>
              <a:buNone/>
              <a:defRPr sz="1800"/>
            </a:lvl1pPr>
            <a:lvl2pPr lvl="1" rtl="0" algn="ctr">
              <a:lnSpc>
                <a:spcPct val="90000"/>
              </a:lnSpc>
              <a:spcBef>
                <a:spcPts val="4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
        <p:nvSpPr>
          <p:cNvPr id="79" name="Google Shape;79;p19"/>
          <p:cNvSpPr txBox="1"/>
          <p:nvPr>
            <p:ph idx="12" type="sldNum"/>
          </p:nvPr>
        </p:nvSpPr>
        <p:spPr>
          <a:xfrm>
            <a:off x="7020824" y="478667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b="0" i="0" sz="900" u="none" cap="none" strike="noStrike">
                <a:solidFill>
                  <a:srgbClr val="888888"/>
                </a:solidFill>
                <a:latin typeface="Arial"/>
                <a:ea typeface="Arial"/>
                <a:cs typeface="Arial"/>
                <a:sym typeface="Arial"/>
              </a:defRPr>
            </a:lvl1pPr>
            <a:lvl2pPr indent="0" lvl="1" marL="0" rtl="0" algn="r">
              <a:spcBef>
                <a:spcPts val="0"/>
              </a:spcBef>
              <a:buNone/>
              <a:defRPr b="0" i="0" sz="900" u="none" cap="none" strike="noStrike">
                <a:solidFill>
                  <a:srgbClr val="888888"/>
                </a:solidFill>
                <a:latin typeface="Arial"/>
                <a:ea typeface="Arial"/>
                <a:cs typeface="Arial"/>
                <a:sym typeface="Arial"/>
              </a:defRPr>
            </a:lvl2pPr>
            <a:lvl3pPr indent="0" lvl="2" marL="0" rtl="0" algn="r">
              <a:spcBef>
                <a:spcPts val="0"/>
              </a:spcBef>
              <a:buNone/>
              <a:defRPr b="0" i="0" sz="900" u="none" cap="none" strike="noStrike">
                <a:solidFill>
                  <a:srgbClr val="888888"/>
                </a:solidFill>
                <a:latin typeface="Arial"/>
                <a:ea typeface="Arial"/>
                <a:cs typeface="Arial"/>
                <a:sym typeface="Arial"/>
              </a:defRPr>
            </a:lvl3pPr>
            <a:lvl4pPr indent="0" lvl="3" marL="0" rtl="0" algn="r">
              <a:spcBef>
                <a:spcPts val="0"/>
              </a:spcBef>
              <a:buNone/>
              <a:defRPr b="0" i="0" sz="900" u="none" cap="none" strike="noStrike">
                <a:solidFill>
                  <a:srgbClr val="888888"/>
                </a:solidFill>
                <a:latin typeface="Arial"/>
                <a:ea typeface="Arial"/>
                <a:cs typeface="Arial"/>
                <a:sym typeface="Arial"/>
              </a:defRPr>
            </a:lvl4pPr>
            <a:lvl5pPr indent="0" lvl="4" marL="0" rtl="0" algn="r">
              <a:spcBef>
                <a:spcPts val="0"/>
              </a:spcBef>
              <a:buNone/>
              <a:defRPr b="0" i="0" sz="900" u="none" cap="none" strike="noStrike">
                <a:solidFill>
                  <a:srgbClr val="888888"/>
                </a:solidFill>
                <a:latin typeface="Arial"/>
                <a:ea typeface="Arial"/>
                <a:cs typeface="Arial"/>
                <a:sym typeface="Arial"/>
              </a:defRPr>
            </a:lvl5pPr>
            <a:lvl6pPr indent="0" lvl="5" marL="0" rtl="0" algn="r">
              <a:spcBef>
                <a:spcPts val="0"/>
              </a:spcBef>
              <a:buNone/>
              <a:defRPr b="0" i="0" sz="900" u="none" cap="none" strike="noStrike">
                <a:solidFill>
                  <a:srgbClr val="888888"/>
                </a:solidFill>
                <a:latin typeface="Arial"/>
                <a:ea typeface="Arial"/>
                <a:cs typeface="Arial"/>
                <a:sym typeface="Arial"/>
              </a:defRPr>
            </a:lvl6pPr>
            <a:lvl7pPr indent="0" lvl="6" marL="0" rtl="0" algn="r">
              <a:spcBef>
                <a:spcPts val="0"/>
              </a:spcBef>
              <a:buNone/>
              <a:defRPr b="0" i="0" sz="900" u="none" cap="none" strike="noStrike">
                <a:solidFill>
                  <a:srgbClr val="888888"/>
                </a:solidFill>
                <a:latin typeface="Arial"/>
                <a:ea typeface="Arial"/>
                <a:cs typeface="Arial"/>
                <a:sym typeface="Arial"/>
              </a:defRPr>
            </a:lvl7pPr>
            <a:lvl8pPr indent="0" lvl="7" marL="0" rtl="0" algn="r">
              <a:spcBef>
                <a:spcPts val="0"/>
              </a:spcBef>
              <a:buNone/>
              <a:defRPr b="0" i="0" sz="900" u="none" cap="none" strike="noStrike">
                <a:solidFill>
                  <a:srgbClr val="888888"/>
                </a:solidFill>
                <a:latin typeface="Arial"/>
                <a:ea typeface="Arial"/>
                <a:cs typeface="Arial"/>
                <a:sym typeface="Arial"/>
              </a:defRPr>
            </a:lvl8pPr>
            <a:lvl9pPr indent="0" lvl="8" marL="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r>
              <a:rPr lang="nl"/>
              <a:t>Naam docent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en object" type="obj">
  <p:cSld name="OBJECT">
    <p:spTree>
      <p:nvGrpSpPr>
        <p:cNvPr id="80" name="Shape 80"/>
        <p:cNvGrpSpPr/>
        <p:nvPr/>
      </p:nvGrpSpPr>
      <p:grpSpPr>
        <a:xfrm>
          <a:off x="0" y="0"/>
          <a:ext cx="0" cy="0"/>
          <a:chOff x="0" y="0"/>
          <a:chExt cx="0" cy="0"/>
        </a:xfrm>
      </p:grpSpPr>
      <p:sp>
        <p:nvSpPr>
          <p:cNvPr id="81" name="Google Shape;81;p2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3000"/>
              <a:buFont typeface="Arial"/>
              <a:buNone/>
              <a:defRPr b="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82" name="Google Shape;82;p20"/>
          <p:cNvSpPr txBox="1"/>
          <p:nvPr>
            <p:ph idx="1" type="body"/>
          </p:nvPr>
        </p:nvSpPr>
        <p:spPr>
          <a:xfrm>
            <a:off x="628650" y="1369219"/>
            <a:ext cx="7886700" cy="29139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83" name="Google Shape;83;p20"/>
          <p:cNvSpPr txBox="1"/>
          <p:nvPr>
            <p:ph idx="12" type="sldNum"/>
          </p:nvPr>
        </p:nvSpPr>
        <p:spPr>
          <a:xfrm>
            <a:off x="7020824" y="478667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b="0" i="0" sz="900" u="none" cap="none" strike="noStrike">
                <a:solidFill>
                  <a:srgbClr val="888888"/>
                </a:solidFill>
                <a:latin typeface="Arial"/>
                <a:ea typeface="Arial"/>
                <a:cs typeface="Arial"/>
                <a:sym typeface="Arial"/>
              </a:defRPr>
            </a:lvl1pPr>
            <a:lvl2pPr indent="0" lvl="1" marL="0" rtl="0" algn="r">
              <a:spcBef>
                <a:spcPts val="0"/>
              </a:spcBef>
              <a:buNone/>
              <a:defRPr b="0" i="0" sz="900" u="none" cap="none" strike="noStrike">
                <a:solidFill>
                  <a:srgbClr val="888888"/>
                </a:solidFill>
                <a:latin typeface="Arial"/>
                <a:ea typeface="Arial"/>
                <a:cs typeface="Arial"/>
                <a:sym typeface="Arial"/>
              </a:defRPr>
            </a:lvl2pPr>
            <a:lvl3pPr indent="0" lvl="2" marL="0" rtl="0" algn="r">
              <a:spcBef>
                <a:spcPts val="0"/>
              </a:spcBef>
              <a:buNone/>
              <a:defRPr b="0" i="0" sz="900" u="none" cap="none" strike="noStrike">
                <a:solidFill>
                  <a:srgbClr val="888888"/>
                </a:solidFill>
                <a:latin typeface="Arial"/>
                <a:ea typeface="Arial"/>
                <a:cs typeface="Arial"/>
                <a:sym typeface="Arial"/>
              </a:defRPr>
            </a:lvl3pPr>
            <a:lvl4pPr indent="0" lvl="3" marL="0" rtl="0" algn="r">
              <a:spcBef>
                <a:spcPts val="0"/>
              </a:spcBef>
              <a:buNone/>
              <a:defRPr b="0" i="0" sz="900" u="none" cap="none" strike="noStrike">
                <a:solidFill>
                  <a:srgbClr val="888888"/>
                </a:solidFill>
                <a:latin typeface="Arial"/>
                <a:ea typeface="Arial"/>
                <a:cs typeface="Arial"/>
                <a:sym typeface="Arial"/>
              </a:defRPr>
            </a:lvl4pPr>
            <a:lvl5pPr indent="0" lvl="4" marL="0" rtl="0" algn="r">
              <a:spcBef>
                <a:spcPts val="0"/>
              </a:spcBef>
              <a:buNone/>
              <a:defRPr b="0" i="0" sz="900" u="none" cap="none" strike="noStrike">
                <a:solidFill>
                  <a:srgbClr val="888888"/>
                </a:solidFill>
                <a:latin typeface="Arial"/>
                <a:ea typeface="Arial"/>
                <a:cs typeface="Arial"/>
                <a:sym typeface="Arial"/>
              </a:defRPr>
            </a:lvl5pPr>
            <a:lvl6pPr indent="0" lvl="5" marL="0" rtl="0" algn="r">
              <a:spcBef>
                <a:spcPts val="0"/>
              </a:spcBef>
              <a:buNone/>
              <a:defRPr b="0" i="0" sz="900" u="none" cap="none" strike="noStrike">
                <a:solidFill>
                  <a:srgbClr val="888888"/>
                </a:solidFill>
                <a:latin typeface="Arial"/>
                <a:ea typeface="Arial"/>
                <a:cs typeface="Arial"/>
                <a:sym typeface="Arial"/>
              </a:defRPr>
            </a:lvl6pPr>
            <a:lvl7pPr indent="0" lvl="6" marL="0" rtl="0" algn="r">
              <a:spcBef>
                <a:spcPts val="0"/>
              </a:spcBef>
              <a:buNone/>
              <a:defRPr b="0" i="0" sz="900" u="none" cap="none" strike="noStrike">
                <a:solidFill>
                  <a:srgbClr val="888888"/>
                </a:solidFill>
                <a:latin typeface="Arial"/>
                <a:ea typeface="Arial"/>
                <a:cs typeface="Arial"/>
                <a:sym typeface="Arial"/>
              </a:defRPr>
            </a:lvl7pPr>
            <a:lvl8pPr indent="0" lvl="7" marL="0" rtl="0" algn="r">
              <a:spcBef>
                <a:spcPts val="0"/>
              </a:spcBef>
              <a:buNone/>
              <a:defRPr b="0" i="0" sz="900" u="none" cap="none" strike="noStrike">
                <a:solidFill>
                  <a:srgbClr val="888888"/>
                </a:solidFill>
                <a:latin typeface="Arial"/>
                <a:ea typeface="Arial"/>
                <a:cs typeface="Arial"/>
                <a:sym typeface="Arial"/>
              </a:defRPr>
            </a:lvl8pPr>
            <a:lvl9pPr indent="0" lvl="8" marL="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r>
              <a:rPr lang="nl"/>
              <a:t>Naam docent</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elijking">
  <p:cSld name="Vergelijking">
    <p:spTree>
      <p:nvGrpSpPr>
        <p:cNvPr id="84" name="Shape 84"/>
        <p:cNvGrpSpPr/>
        <p:nvPr/>
      </p:nvGrpSpPr>
      <p:grpSpPr>
        <a:xfrm>
          <a:off x="0" y="0"/>
          <a:ext cx="0" cy="0"/>
          <a:chOff x="0" y="0"/>
          <a:chExt cx="0" cy="0"/>
        </a:xfrm>
      </p:grpSpPr>
      <p:sp>
        <p:nvSpPr>
          <p:cNvPr id="85" name="Google Shape;85;p21"/>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3000"/>
              <a:buFont typeface="Arial"/>
              <a:buNone/>
              <a:defRPr b="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86" name="Google Shape;86;p21"/>
          <p:cNvSpPr txBox="1"/>
          <p:nvPr>
            <p:ph idx="1" type="body"/>
          </p:nvPr>
        </p:nvSpPr>
        <p:spPr>
          <a:xfrm>
            <a:off x="629841" y="1260872"/>
            <a:ext cx="3868500" cy="618000"/>
          </a:xfrm>
          <a:prstGeom prst="rect">
            <a:avLst/>
          </a:prstGeom>
          <a:noFill/>
          <a:ln>
            <a:noFill/>
          </a:ln>
        </p:spPr>
        <p:txBody>
          <a:bodyPr anchorCtr="0" anchor="ctr"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87" name="Google Shape;87;p21"/>
          <p:cNvSpPr txBox="1"/>
          <p:nvPr>
            <p:ph idx="2" type="body"/>
          </p:nvPr>
        </p:nvSpPr>
        <p:spPr>
          <a:xfrm>
            <a:off x="4626768" y="1297451"/>
            <a:ext cx="3887400" cy="618000"/>
          </a:xfrm>
          <a:prstGeom prst="rect">
            <a:avLst/>
          </a:prstGeom>
          <a:noFill/>
          <a:ln>
            <a:noFill/>
          </a:ln>
        </p:spPr>
        <p:txBody>
          <a:bodyPr anchorCtr="0" anchor="ctr"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88" name="Google Shape;88;p21"/>
          <p:cNvSpPr txBox="1"/>
          <p:nvPr>
            <p:ph idx="12" type="sldNum"/>
          </p:nvPr>
        </p:nvSpPr>
        <p:spPr>
          <a:xfrm>
            <a:off x="7020824" y="478667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b="0" i="0" sz="900" u="none" cap="none" strike="noStrike">
                <a:solidFill>
                  <a:srgbClr val="888888"/>
                </a:solidFill>
                <a:latin typeface="Arial"/>
                <a:ea typeface="Arial"/>
                <a:cs typeface="Arial"/>
                <a:sym typeface="Arial"/>
              </a:defRPr>
            </a:lvl1pPr>
            <a:lvl2pPr indent="0" lvl="1" marL="0" rtl="0" algn="r">
              <a:spcBef>
                <a:spcPts val="0"/>
              </a:spcBef>
              <a:buNone/>
              <a:defRPr b="0" i="0" sz="900" u="none" cap="none" strike="noStrike">
                <a:solidFill>
                  <a:srgbClr val="888888"/>
                </a:solidFill>
                <a:latin typeface="Arial"/>
                <a:ea typeface="Arial"/>
                <a:cs typeface="Arial"/>
                <a:sym typeface="Arial"/>
              </a:defRPr>
            </a:lvl2pPr>
            <a:lvl3pPr indent="0" lvl="2" marL="0" rtl="0" algn="r">
              <a:spcBef>
                <a:spcPts val="0"/>
              </a:spcBef>
              <a:buNone/>
              <a:defRPr b="0" i="0" sz="900" u="none" cap="none" strike="noStrike">
                <a:solidFill>
                  <a:srgbClr val="888888"/>
                </a:solidFill>
                <a:latin typeface="Arial"/>
                <a:ea typeface="Arial"/>
                <a:cs typeface="Arial"/>
                <a:sym typeface="Arial"/>
              </a:defRPr>
            </a:lvl3pPr>
            <a:lvl4pPr indent="0" lvl="3" marL="0" rtl="0" algn="r">
              <a:spcBef>
                <a:spcPts val="0"/>
              </a:spcBef>
              <a:buNone/>
              <a:defRPr b="0" i="0" sz="900" u="none" cap="none" strike="noStrike">
                <a:solidFill>
                  <a:srgbClr val="888888"/>
                </a:solidFill>
                <a:latin typeface="Arial"/>
                <a:ea typeface="Arial"/>
                <a:cs typeface="Arial"/>
                <a:sym typeface="Arial"/>
              </a:defRPr>
            </a:lvl4pPr>
            <a:lvl5pPr indent="0" lvl="4" marL="0" rtl="0" algn="r">
              <a:spcBef>
                <a:spcPts val="0"/>
              </a:spcBef>
              <a:buNone/>
              <a:defRPr b="0" i="0" sz="900" u="none" cap="none" strike="noStrike">
                <a:solidFill>
                  <a:srgbClr val="888888"/>
                </a:solidFill>
                <a:latin typeface="Arial"/>
                <a:ea typeface="Arial"/>
                <a:cs typeface="Arial"/>
                <a:sym typeface="Arial"/>
              </a:defRPr>
            </a:lvl5pPr>
            <a:lvl6pPr indent="0" lvl="5" marL="0" rtl="0" algn="r">
              <a:spcBef>
                <a:spcPts val="0"/>
              </a:spcBef>
              <a:buNone/>
              <a:defRPr b="0" i="0" sz="900" u="none" cap="none" strike="noStrike">
                <a:solidFill>
                  <a:srgbClr val="888888"/>
                </a:solidFill>
                <a:latin typeface="Arial"/>
                <a:ea typeface="Arial"/>
                <a:cs typeface="Arial"/>
                <a:sym typeface="Arial"/>
              </a:defRPr>
            </a:lvl6pPr>
            <a:lvl7pPr indent="0" lvl="6" marL="0" rtl="0" algn="r">
              <a:spcBef>
                <a:spcPts val="0"/>
              </a:spcBef>
              <a:buNone/>
              <a:defRPr b="0" i="0" sz="900" u="none" cap="none" strike="noStrike">
                <a:solidFill>
                  <a:srgbClr val="888888"/>
                </a:solidFill>
                <a:latin typeface="Arial"/>
                <a:ea typeface="Arial"/>
                <a:cs typeface="Arial"/>
                <a:sym typeface="Arial"/>
              </a:defRPr>
            </a:lvl7pPr>
            <a:lvl8pPr indent="0" lvl="7" marL="0" rtl="0" algn="r">
              <a:spcBef>
                <a:spcPts val="0"/>
              </a:spcBef>
              <a:buNone/>
              <a:defRPr b="0" i="0" sz="900" u="none" cap="none" strike="noStrike">
                <a:solidFill>
                  <a:srgbClr val="888888"/>
                </a:solidFill>
                <a:latin typeface="Arial"/>
                <a:ea typeface="Arial"/>
                <a:cs typeface="Arial"/>
                <a:sym typeface="Arial"/>
              </a:defRPr>
            </a:lvl8pPr>
            <a:lvl9pPr indent="0" lvl="8" marL="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r>
              <a:rPr lang="nl"/>
              <a:t>Naam docent</a:t>
            </a:r>
            <a:endParaRPr/>
          </a:p>
        </p:txBody>
      </p:sp>
      <p:sp>
        <p:nvSpPr>
          <p:cNvPr id="89" name="Google Shape;89;p21"/>
          <p:cNvSpPr txBox="1"/>
          <p:nvPr>
            <p:ph idx="3" type="body"/>
          </p:nvPr>
        </p:nvSpPr>
        <p:spPr>
          <a:xfrm>
            <a:off x="629841" y="1953815"/>
            <a:ext cx="3868500" cy="26397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0"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90" name="Google Shape;90;p21"/>
          <p:cNvSpPr txBox="1"/>
          <p:nvPr>
            <p:ph idx="4" type="body"/>
          </p:nvPr>
        </p:nvSpPr>
        <p:spPr>
          <a:xfrm>
            <a:off x="4629150" y="1944819"/>
            <a:ext cx="3885000" cy="26397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b="0"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jpg"/><Relationship Id="rId3" Type="http://schemas.openxmlformats.org/officeDocument/2006/relationships/hyperlink" Target="https://www.pxl.be/" TargetMode="External"/><Relationship Id="rId4" Type="http://schemas.openxmlformats.org/officeDocument/2006/relationships/slideLayout" Target="../slideLayouts/slideLayout12.xml"/><Relationship Id="rId5"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23.png"/><Relationship Id="rId3" Type="http://schemas.openxmlformats.org/officeDocument/2006/relationships/slideLayout" Target="../slideLayouts/slideLayout13.xml"/><Relationship Id="rId4"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n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1">
            <a:alphaModFix/>
          </a:blip>
          <a:srcRect b="6266" l="0" r="5204" t="17035"/>
          <a:stretch/>
        </p:blipFill>
        <p:spPr>
          <a:xfrm>
            <a:off x="2764240" y="0"/>
            <a:ext cx="6379762" cy="5143498"/>
          </a:xfrm>
          <a:prstGeom prst="rect">
            <a:avLst/>
          </a:prstGeom>
          <a:noFill/>
          <a:ln>
            <a:noFill/>
          </a:ln>
        </p:spPr>
      </p:pic>
      <p:sp>
        <p:nvSpPr>
          <p:cNvPr id="52" name="Google Shape;52;p13"/>
          <p:cNvSpPr txBox="1"/>
          <p:nvPr>
            <p:ph type="title"/>
          </p:nvPr>
        </p:nvSpPr>
        <p:spPr>
          <a:xfrm>
            <a:off x="244106" y="884321"/>
            <a:ext cx="3086100" cy="1545900"/>
          </a:xfrm>
          <a:prstGeom prst="rect">
            <a:avLst/>
          </a:prstGeom>
          <a:noFill/>
          <a:ln>
            <a:noFill/>
          </a:ln>
        </p:spPr>
        <p:txBody>
          <a:bodyPr anchorCtr="0" anchor="t"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53" name="Google Shape;53;p13"/>
          <p:cNvSpPr txBox="1"/>
          <p:nvPr>
            <p:ph idx="1" type="body"/>
          </p:nvPr>
        </p:nvSpPr>
        <p:spPr>
          <a:xfrm>
            <a:off x="244105" y="2442410"/>
            <a:ext cx="3305400" cy="11670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90000"/>
              </a:lnSpc>
              <a:spcBef>
                <a:spcPts val="800"/>
              </a:spcBef>
              <a:spcAft>
                <a:spcPts val="0"/>
              </a:spcAft>
              <a:buClr>
                <a:schemeClr val="dk1"/>
              </a:buClr>
              <a:buSzPts val="2100"/>
              <a:buFont typeface="Arial"/>
              <a:buNone/>
              <a:defRPr b="1" i="0" sz="2100" u="none" cap="none" strike="noStrike">
                <a:solidFill>
                  <a:schemeClr val="dk1"/>
                </a:solidFill>
                <a:latin typeface="Arial"/>
                <a:ea typeface="Arial"/>
                <a:cs typeface="Arial"/>
                <a:sym typeface="Arial"/>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2pPr>
            <a:lvl3pPr indent="-228600" lvl="2" marL="1371600"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3pPr>
            <a:lvl4pPr indent="-228600" lvl="3" marL="18288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4pPr>
            <a:lvl5pPr indent="-228600" lvl="4" marL="2286000" marR="0" rtl="0" algn="l">
              <a:lnSpc>
                <a:spcPct val="90000"/>
              </a:lnSpc>
              <a:spcBef>
                <a:spcPts val="4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id="54" name="Google Shape;54;p13"/>
          <p:cNvPicPr preferRelativeResize="0"/>
          <p:nvPr/>
        </p:nvPicPr>
        <p:blipFill rotWithShape="1">
          <a:blip r:embed="rId2">
            <a:alphaModFix/>
          </a:blip>
          <a:srcRect b="0" l="0" r="0" t="0"/>
          <a:stretch/>
        </p:blipFill>
        <p:spPr>
          <a:xfrm>
            <a:off x="244105" y="3894644"/>
            <a:ext cx="2701556" cy="729071"/>
          </a:xfrm>
          <a:prstGeom prst="rect">
            <a:avLst/>
          </a:prstGeom>
          <a:noFill/>
          <a:ln>
            <a:noFill/>
          </a:ln>
        </p:spPr>
      </p:pic>
      <p:sp>
        <p:nvSpPr>
          <p:cNvPr id="55" name="Google Shape;55;p13"/>
          <p:cNvSpPr txBox="1"/>
          <p:nvPr/>
        </p:nvSpPr>
        <p:spPr>
          <a:xfrm>
            <a:off x="337856" y="4704359"/>
            <a:ext cx="3499200" cy="358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0" i="0" lang="nl" sz="1100" u="none" cap="none" strike="noStrike">
                <a:solidFill>
                  <a:schemeClr val="dk1"/>
                </a:solidFill>
                <a:latin typeface="Arial"/>
                <a:ea typeface="Arial"/>
                <a:cs typeface="Arial"/>
                <a:sym typeface="Arial"/>
              </a:rPr>
              <a:t>Elfde-Liniestraat 24, 3500 Hasselt</a:t>
            </a:r>
            <a:endParaRPr sz="1100"/>
          </a:p>
          <a:p>
            <a:pPr indent="0" lvl="0" marL="0" marR="0" rtl="0" algn="l">
              <a:lnSpc>
                <a:spcPct val="100000"/>
              </a:lnSpc>
              <a:spcBef>
                <a:spcPts val="0"/>
              </a:spcBef>
              <a:spcAft>
                <a:spcPts val="0"/>
              </a:spcAft>
              <a:buClr>
                <a:schemeClr val="dk1"/>
              </a:buClr>
              <a:buSzPts val="1100"/>
              <a:buFont typeface="Arial"/>
              <a:buNone/>
            </a:pPr>
            <a:r>
              <a:rPr b="0" i="0" lang="nl" sz="1100" u="sng" cap="none" strike="noStrike">
                <a:solidFill>
                  <a:schemeClr val="dk1"/>
                </a:solidFill>
                <a:latin typeface="Arial"/>
                <a:ea typeface="Arial"/>
                <a:cs typeface="Arial"/>
                <a:sym typeface="Arial"/>
                <a:hlinkClick r:id="rId3">
                  <a:extLst>
                    <a:ext uri="{A12FA001-AC4F-418D-AE19-62706E023703}">
                      <ahyp:hlinkClr val="tx"/>
                    </a:ext>
                  </a:extLst>
                </a:hlinkClick>
              </a:rPr>
              <a:t>www.pxl.be</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nl" sz="1100" u="none" cap="none" strike="noStrike">
                <a:solidFill>
                  <a:schemeClr val="dk1"/>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pic>
        <p:nvPicPr>
          <p:cNvPr id="60" name="Google Shape;60;p15"/>
          <p:cNvPicPr preferRelativeResize="0"/>
          <p:nvPr/>
        </p:nvPicPr>
        <p:blipFill rotWithShape="1">
          <a:blip r:embed="rId1">
            <a:alphaModFix/>
          </a:blip>
          <a:srcRect b="0" l="0" r="0" t="0"/>
          <a:stretch/>
        </p:blipFill>
        <p:spPr>
          <a:xfrm>
            <a:off x="4572000" y="0"/>
            <a:ext cx="4572000" cy="5143500"/>
          </a:xfrm>
          <a:prstGeom prst="rect">
            <a:avLst/>
          </a:prstGeom>
          <a:noFill/>
          <a:ln>
            <a:noFill/>
          </a:ln>
        </p:spPr>
      </p:pic>
      <p:sp>
        <p:nvSpPr>
          <p:cNvPr id="61" name="Google Shape;61;p15"/>
          <p:cNvSpPr txBox="1"/>
          <p:nvPr>
            <p:ph type="title"/>
          </p:nvPr>
        </p:nvSpPr>
        <p:spPr>
          <a:xfrm>
            <a:off x="300790" y="735367"/>
            <a:ext cx="3741900" cy="1836600"/>
          </a:xfrm>
          <a:prstGeom prst="rect">
            <a:avLst/>
          </a:prstGeom>
          <a:noFill/>
          <a:ln>
            <a:noFill/>
          </a:ln>
        </p:spPr>
        <p:txBody>
          <a:bodyPr anchorCtr="0" anchor="t" bIns="34275" lIns="68575" spcFirstLastPara="1" rIns="68575" wrap="square" tIns="34275">
            <a:normAutofit/>
          </a:bodyPr>
          <a:lstStyle>
            <a:lvl1pPr lvl="0" marR="0" rtl="0" algn="l">
              <a:lnSpc>
                <a:spcPct val="90000"/>
              </a:lnSpc>
              <a:spcBef>
                <a:spcPts val="0"/>
              </a:spcBef>
              <a:spcAft>
                <a:spcPts val="0"/>
              </a:spcAft>
              <a:buClr>
                <a:schemeClr val="dk1"/>
              </a:buClr>
              <a:buSzPts val="2600"/>
              <a:buFont typeface="Arial"/>
              <a:buNone/>
              <a:defRPr b="1" i="0" sz="2600" u="none" cap="none" strike="noStrike">
                <a:solidFill>
                  <a:schemeClr val="dk1"/>
                </a:solidFill>
                <a:latin typeface="Arial"/>
                <a:ea typeface="Arial"/>
                <a:cs typeface="Arial"/>
                <a:sym typeface="Arial"/>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62" name="Google Shape;62;p15"/>
          <p:cNvSpPr txBox="1"/>
          <p:nvPr>
            <p:ph idx="1" type="body"/>
          </p:nvPr>
        </p:nvSpPr>
        <p:spPr>
          <a:xfrm>
            <a:off x="300789" y="2671010"/>
            <a:ext cx="3741900" cy="1877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pic>
        <p:nvPicPr>
          <p:cNvPr id="63" name="Google Shape;63;p15"/>
          <p:cNvPicPr preferRelativeResize="0"/>
          <p:nvPr/>
        </p:nvPicPr>
        <p:blipFill rotWithShape="1">
          <a:blip r:embed="rId2">
            <a:alphaModFix/>
          </a:blip>
          <a:srcRect b="0" l="0" r="0" t="0"/>
          <a:stretch/>
        </p:blipFill>
        <p:spPr>
          <a:xfrm>
            <a:off x="8607623" y="262046"/>
            <a:ext cx="298849" cy="29982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 name="Shape 67"/>
        <p:cNvGrpSpPr/>
        <p:nvPr/>
      </p:nvGrpSpPr>
      <p:grpSpPr>
        <a:xfrm>
          <a:off x="0" y="0"/>
          <a:ext cx="0" cy="0"/>
          <a:chOff x="0" y="0"/>
          <a:chExt cx="0" cy="0"/>
        </a:xfrm>
      </p:grpSpPr>
      <p:sp>
        <p:nvSpPr>
          <p:cNvPr id="68" name="Google Shape;68;p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000"/>
              <a:buFont typeface="Arial"/>
              <a:buNone/>
              <a:defRPr b="1" i="0" sz="3000" u="none" cap="none" strike="noStrike">
                <a:solidFill>
                  <a:schemeClr val="dk1"/>
                </a:solidFill>
                <a:latin typeface="Arial"/>
                <a:ea typeface="Arial"/>
                <a:cs typeface="Arial"/>
                <a:sym typeface="Arial"/>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69" name="Google Shape;69;p17"/>
          <p:cNvSpPr txBox="1"/>
          <p:nvPr>
            <p:ph idx="1" type="body"/>
          </p:nvPr>
        </p:nvSpPr>
        <p:spPr>
          <a:xfrm>
            <a:off x="628650" y="1369219"/>
            <a:ext cx="7886700" cy="29139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90000"/>
              </a:lnSpc>
              <a:spcBef>
                <a:spcPts val="8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0" name="Google Shape;70;p17"/>
          <p:cNvSpPr txBox="1"/>
          <p:nvPr>
            <p:ph idx="12" type="sldNum"/>
          </p:nvPr>
        </p:nvSpPr>
        <p:spPr>
          <a:xfrm>
            <a:off x="7020824" y="4786673"/>
            <a:ext cx="2057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r>
              <a:rPr lang="nl"/>
              <a:t>Naam docent</a:t>
            </a:r>
            <a:endParaRPr sz="1100">
              <a:solidFill>
                <a:srgbClr val="000000"/>
              </a:solidFill>
            </a:endParaRPr>
          </a:p>
        </p:txBody>
      </p:sp>
      <p:pic>
        <p:nvPicPr>
          <p:cNvPr id="71" name="Google Shape;71;p17"/>
          <p:cNvPicPr preferRelativeResize="0"/>
          <p:nvPr/>
        </p:nvPicPr>
        <p:blipFill rotWithShape="1">
          <a:blip r:embed="rId1">
            <a:alphaModFix/>
          </a:blip>
          <a:srcRect b="0" l="0" r="0" t="0"/>
          <a:stretch/>
        </p:blipFill>
        <p:spPr>
          <a:xfrm>
            <a:off x="175763" y="4549852"/>
            <a:ext cx="1755070" cy="4736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hyperlink" Target="http://maven.apache.org/plugins/maven-surefire-plugin/" TargetMode="External"/><Relationship Id="rId4" Type="http://schemas.openxmlformats.org/officeDocument/2006/relationships/hyperlink" Target="http://maven.apache.org/plugins/maven-failsafe-plugin/"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2"/>
          <p:cNvSpPr txBox="1"/>
          <p:nvPr>
            <p:ph type="ctrTitle"/>
          </p:nvPr>
        </p:nvSpPr>
        <p:spPr>
          <a:xfrm>
            <a:off x="348915" y="1118938"/>
            <a:ext cx="3170700" cy="9645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00000"/>
              <a:buFont typeface="Arial"/>
              <a:buNone/>
            </a:pPr>
            <a:r>
              <a:rPr lang="nl"/>
              <a:t>Automated Software Testing</a:t>
            </a:r>
            <a:endParaRPr/>
          </a:p>
        </p:txBody>
      </p:sp>
      <p:sp>
        <p:nvSpPr>
          <p:cNvPr id="96" name="Google Shape;96;p22"/>
          <p:cNvSpPr txBox="1"/>
          <p:nvPr>
            <p:ph idx="1" type="body"/>
          </p:nvPr>
        </p:nvSpPr>
        <p:spPr>
          <a:xfrm>
            <a:off x="348915" y="2329548"/>
            <a:ext cx="3305400" cy="11670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None/>
            </a:pPr>
            <a:r>
              <a:rPr lang="nl"/>
              <a:t>08. Test automation, reporting, and metrics</a:t>
            </a:r>
            <a:endParaRPr/>
          </a:p>
          <a:p>
            <a:pPr indent="0" lvl="0" marL="0" rtl="0" algn="l">
              <a:lnSpc>
                <a:spcPct val="90000"/>
              </a:lnSpc>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3"/>
          <p:cNvSpPr txBox="1"/>
          <p:nvPr>
            <p:ph type="title"/>
          </p:nvPr>
        </p:nvSpPr>
        <p:spPr>
          <a:xfrm>
            <a:off x="1379846" y="167735"/>
            <a:ext cx="3741900" cy="18366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2600"/>
              <a:buFont typeface="Arial"/>
              <a:buNone/>
            </a:pPr>
            <a:r>
              <a:rPr lang="nl"/>
              <a:t>The student can:</a:t>
            </a:r>
            <a:endParaRPr/>
          </a:p>
        </p:txBody>
      </p:sp>
      <p:sp>
        <p:nvSpPr>
          <p:cNvPr id="102" name="Google Shape;102;p23"/>
          <p:cNvSpPr txBox="1"/>
          <p:nvPr>
            <p:ph idx="1" type="body"/>
          </p:nvPr>
        </p:nvSpPr>
        <p:spPr>
          <a:xfrm>
            <a:off x="259300" y="1199400"/>
            <a:ext cx="4204500" cy="36636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200"/>
              </a:spcBef>
              <a:spcAft>
                <a:spcPts val="0"/>
              </a:spcAft>
              <a:buNone/>
            </a:pPr>
            <a:r>
              <a:rPr b="1" lang="nl" sz="1600"/>
              <a:t>Purpose of Reporting in Test Automation</a:t>
            </a:r>
            <a:endParaRPr b="1" sz="1600"/>
          </a:p>
          <a:p>
            <a:pPr indent="-330200" lvl="0" marL="457200" rtl="0" algn="l">
              <a:lnSpc>
                <a:spcPct val="115000"/>
              </a:lnSpc>
              <a:spcBef>
                <a:spcPts val="1200"/>
              </a:spcBef>
              <a:spcAft>
                <a:spcPts val="0"/>
              </a:spcAft>
              <a:buSzPts val="1600"/>
              <a:buChar char="●"/>
            </a:pPr>
            <a:r>
              <a:rPr lang="nl" sz="1600"/>
              <a:t>Can describe the purpose of reporting in test automation, including:</a:t>
            </a:r>
            <a:endParaRPr sz="1600"/>
          </a:p>
          <a:p>
            <a:pPr indent="-330200" lvl="1" marL="914400" rtl="0" algn="l">
              <a:lnSpc>
                <a:spcPct val="115000"/>
              </a:lnSpc>
              <a:spcBef>
                <a:spcPts val="0"/>
              </a:spcBef>
              <a:spcAft>
                <a:spcPts val="0"/>
              </a:spcAft>
              <a:buSzPts val="1600"/>
              <a:buChar char="○"/>
            </a:pPr>
            <a:r>
              <a:rPr lang="nl" sz="1600"/>
              <a:t>Status reporting for stakeholders.</a:t>
            </a:r>
            <a:endParaRPr sz="1600"/>
          </a:p>
          <a:p>
            <a:pPr indent="-330200" lvl="1" marL="914400" rtl="0" algn="l">
              <a:lnSpc>
                <a:spcPct val="115000"/>
              </a:lnSpc>
              <a:spcBef>
                <a:spcPts val="0"/>
              </a:spcBef>
              <a:spcAft>
                <a:spcPts val="0"/>
              </a:spcAft>
              <a:buSzPts val="1600"/>
              <a:buChar char="○"/>
            </a:pPr>
            <a:r>
              <a:rPr lang="nl" sz="1600"/>
              <a:t>Metrics to track progress and quality.</a:t>
            </a:r>
            <a:endParaRPr sz="1600"/>
          </a:p>
          <a:p>
            <a:pPr indent="-330200" lvl="1" marL="914400" rtl="0" algn="l">
              <a:lnSpc>
                <a:spcPct val="115000"/>
              </a:lnSpc>
              <a:spcBef>
                <a:spcPts val="0"/>
              </a:spcBef>
              <a:spcAft>
                <a:spcPts val="0"/>
              </a:spcAft>
              <a:buSzPts val="1600"/>
              <a:buChar char="○"/>
            </a:pPr>
            <a:r>
              <a:rPr lang="nl" sz="1600"/>
              <a:t>Supporting the investigation and resolution of test failures.</a:t>
            </a:r>
            <a:endParaRPr sz="1600"/>
          </a:p>
          <a:p>
            <a:pPr indent="-330200" lvl="0" marL="457200" rtl="0" algn="l">
              <a:lnSpc>
                <a:spcPct val="115000"/>
              </a:lnSpc>
              <a:spcBef>
                <a:spcPts val="0"/>
              </a:spcBef>
              <a:spcAft>
                <a:spcPts val="0"/>
              </a:spcAft>
              <a:buSzPts val="1600"/>
              <a:buChar char="●"/>
            </a:pPr>
            <a:r>
              <a:rPr lang="nl" sz="1600"/>
              <a:t>Understands the importance of clear and actionable test automation reports for decision-making.</a:t>
            </a:r>
            <a:endParaRPr b="1" sz="1600"/>
          </a:p>
        </p:txBody>
      </p:sp>
      <p:pic>
        <p:nvPicPr>
          <p:cNvPr id="103" name="Google Shape;103;p23"/>
          <p:cNvPicPr preferRelativeResize="0"/>
          <p:nvPr/>
        </p:nvPicPr>
        <p:blipFill>
          <a:blip r:embed="rId3">
            <a:alphaModFix/>
          </a:blip>
          <a:stretch>
            <a:fillRect/>
          </a:stretch>
        </p:blipFill>
        <p:spPr>
          <a:xfrm>
            <a:off x="259311" y="167737"/>
            <a:ext cx="1031661" cy="103166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4"/>
          <p:cNvSpPr txBox="1"/>
          <p:nvPr>
            <p:ph type="title"/>
          </p:nvPr>
        </p:nvSpPr>
        <p:spPr>
          <a:xfrm>
            <a:off x="1379846" y="167735"/>
            <a:ext cx="3741900" cy="18366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2600"/>
              <a:buFont typeface="Arial"/>
              <a:buNone/>
            </a:pPr>
            <a:r>
              <a:rPr lang="nl"/>
              <a:t>The student:</a:t>
            </a:r>
            <a:endParaRPr/>
          </a:p>
        </p:txBody>
      </p:sp>
      <p:sp>
        <p:nvSpPr>
          <p:cNvPr id="109" name="Google Shape;109;p24"/>
          <p:cNvSpPr txBox="1"/>
          <p:nvPr>
            <p:ph idx="1" type="body"/>
          </p:nvPr>
        </p:nvSpPr>
        <p:spPr>
          <a:xfrm>
            <a:off x="259300" y="1199400"/>
            <a:ext cx="4204500" cy="36636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200"/>
              </a:spcBef>
              <a:spcAft>
                <a:spcPts val="0"/>
              </a:spcAft>
              <a:buNone/>
            </a:pPr>
            <a:r>
              <a:rPr b="1" lang="nl" sz="1500"/>
              <a:t>Metrics and Indicators in Practice</a:t>
            </a:r>
            <a:endParaRPr b="1" sz="1500"/>
          </a:p>
          <a:p>
            <a:pPr indent="-323850" lvl="0" marL="457200" rtl="0" algn="l">
              <a:lnSpc>
                <a:spcPct val="115000"/>
              </a:lnSpc>
              <a:spcBef>
                <a:spcPts val="1200"/>
              </a:spcBef>
              <a:spcAft>
                <a:spcPts val="0"/>
              </a:spcAft>
              <a:buSzPts val="1500"/>
              <a:buChar char="●"/>
            </a:pPr>
            <a:r>
              <a:rPr lang="nl" sz="1500"/>
              <a:t>Can identify the key aspects of a metric.</a:t>
            </a:r>
            <a:endParaRPr sz="1500"/>
          </a:p>
          <a:p>
            <a:pPr indent="-323850" lvl="0" marL="457200" rtl="0" algn="l">
              <a:lnSpc>
                <a:spcPct val="115000"/>
              </a:lnSpc>
              <a:spcBef>
                <a:spcPts val="0"/>
              </a:spcBef>
              <a:spcAft>
                <a:spcPts val="0"/>
              </a:spcAft>
              <a:buSzPts val="1500"/>
              <a:buChar char="●"/>
            </a:pPr>
            <a:r>
              <a:rPr lang="nl" sz="1500"/>
              <a:t>Can provide at least two examples of valid metrics for a TAS.</a:t>
            </a:r>
            <a:endParaRPr sz="1500"/>
          </a:p>
          <a:p>
            <a:pPr indent="-323850" lvl="0" marL="457200" rtl="0" algn="l">
              <a:lnSpc>
                <a:spcPct val="115000"/>
              </a:lnSpc>
              <a:spcBef>
                <a:spcPts val="0"/>
              </a:spcBef>
              <a:spcAft>
                <a:spcPts val="0"/>
              </a:spcAft>
              <a:buSzPts val="1500"/>
              <a:buChar char="●"/>
            </a:pPr>
            <a:r>
              <a:rPr lang="nl" sz="1500"/>
              <a:t>Can analyze and interpret metrics to derive insights for improving TAS.</a:t>
            </a:r>
            <a:endParaRPr b="1" sz="1500"/>
          </a:p>
        </p:txBody>
      </p:sp>
      <p:pic>
        <p:nvPicPr>
          <p:cNvPr id="110" name="Google Shape;110;p24"/>
          <p:cNvPicPr preferRelativeResize="0"/>
          <p:nvPr/>
        </p:nvPicPr>
        <p:blipFill>
          <a:blip r:embed="rId3">
            <a:alphaModFix/>
          </a:blip>
          <a:stretch>
            <a:fillRect/>
          </a:stretch>
        </p:blipFill>
        <p:spPr>
          <a:xfrm>
            <a:off x="259311" y="167737"/>
            <a:ext cx="1031661" cy="103166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5"/>
          <p:cNvSpPr txBox="1"/>
          <p:nvPr>
            <p:ph type="title"/>
          </p:nvPr>
        </p:nvSpPr>
        <p:spPr>
          <a:xfrm>
            <a:off x="1379846" y="167735"/>
            <a:ext cx="3741900" cy="18366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2600"/>
              <a:buFont typeface="Arial"/>
              <a:buNone/>
            </a:pPr>
            <a:r>
              <a:rPr lang="nl"/>
              <a:t>The student can:</a:t>
            </a:r>
            <a:endParaRPr/>
          </a:p>
        </p:txBody>
      </p:sp>
      <p:sp>
        <p:nvSpPr>
          <p:cNvPr id="116" name="Google Shape;116;p25"/>
          <p:cNvSpPr txBox="1"/>
          <p:nvPr>
            <p:ph idx="1" type="body"/>
          </p:nvPr>
        </p:nvSpPr>
        <p:spPr>
          <a:xfrm>
            <a:off x="259300" y="1199400"/>
            <a:ext cx="4204500" cy="36636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200"/>
              </a:spcBef>
              <a:spcAft>
                <a:spcPts val="0"/>
              </a:spcAft>
              <a:buNone/>
            </a:pPr>
            <a:r>
              <a:rPr b="1" lang="nl" sz="1500"/>
              <a:t>Test Automation Metrics</a:t>
            </a:r>
            <a:endParaRPr b="1" sz="1500"/>
          </a:p>
          <a:p>
            <a:pPr indent="-323850" lvl="0" marL="457200" rtl="0" algn="l">
              <a:lnSpc>
                <a:spcPct val="115000"/>
              </a:lnSpc>
              <a:spcBef>
                <a:spcPts val="1200"/>
              </a:spcBef>
              <a:spcAft>
                <a:spcPts val="0"/>
              </a:spcAft>
              <a:buSzPts val="1500"/>
              <a:buChar char="●"/>
            </a:pPr>
            <a:r>
              <a:rPr lang="nl" sz="1500"/>
              <a:t>Can identify different metrics to improve a Test Automation Solution (TAS).</a:t>
            </a:r>
            <a:endParaRPr sz="1500"/>
          </a:p>
          <a:p>
            <a:pPr indent="-323850" lvl="0" marL="457200" rtl="0" algn="l">
              <a:lnSpc>
                <a:spcPct val="115000"/>
              </a:lnSpc>
              <a:spcBef>
                <a:spcPts val="0"/>
              </a:spcBef>
              <a:spcAft>
                <a:spcPts val="0"/>
              </a:spcAft>
              <a:buSzPts val="1500"/>
              <a:buChar char="●"/>
            </a:pPr>
            <a:r>
              <a:rPr lang="nl" sz="1500"/>
              <a:t>Can describe indicators that demonstrate the benefits of TAS.</a:t>
            </a:r>
            <a:endParaRPr sz="1500"/>
          </a:p>
          <a:p>
            <a:pPr indent="-323850" lvl="0" marL="457200" rtl="0" algn="l">
              <a:lnSpc>
                <a:spcPct val="115000"/>
              </a:lnSpc>
              <a:spcBef>
                <a:spcPts val="0"/>
              </a:spcBef>
              <a:spcAft>
                <a:spcPts val="0"/>
              </a:spcAft>
              <a:buSzPts val="1500"/>
              <a:buChar char="●"/>
            </a:pPr>
            <a:r>
              <a:rPr lang="nl" sz="1500"/>
              <a:t>Understands the lifecycle of a test in a TAS and its relationship with reporting and metrics.</a:t>
            </a:r>
            <a:endParaRPr sz="1500"/>
          </a:p>
          <a:p>
            <a:pPr indent="-323850" lvl="0" marL="457200" rtl="0" algn="l">
              <a:lnSpc>
                <a:spcPct val="115000"/>
              </a:lnSpc>
              <a:spcBef>
                <a:spcPts val="0"/>
              </a:spcBef>
              <a:spcAft>
                <a:spcPts val="0"/>
              </a:spcAft>
              <a:buSzPts val="1500"/>
              <a:buChar char="●"/>
            </a:pPr>
            <a:r>
              <a:rPr lang="nl" sz="1500"/>
              <a:t>Can explain the challenges and opportunities of handling mass testing and deriving meaningful insights from mass data.</a:t>
            </a:r>
            <a:endParaRPr sz="1500"/>
          </a:p>
          <a:p>
            <a:pPr indent="-323850" lvl="0" marL="457200" rtl="0" algn="l">
              <a:lnSpc>
                <a:spcPct val="115000"/>
              </a:lnSpc>
              <a:spcBef>
                <a:spcPts val="0"/>
              </a:spcBef>
              <a:spcAft>
                <a:spcPts val="0"/>
              </a:spcAft>
              <a:buSzPts val="1500"/>
              <a:buChar char="●"/>
            </a:pPr>
            <a:r>
              <a:rPr lang="nl" sz="1500"/>
              <a:t>Knows the quality criteria for effective reports.</a:t>
            </a:r>
            <a:endParaRPr b="1" sz="1500"/>
          </a:p>
        </p:txBody>
      </p:sp>
      <p:pic>
        <p:nvPicPr>
          <p:cNvPr id="117" name="Google Shape;117;p25"/>
          <p:cNvPicPr preferRelativeResize="0"/>
          <p:nvPr/>
        </p:nvPicPr>
        <p:blipFill>
          <a:blip r:embed="rId3">
            <a:alphaModFix/>
          </a:blip>
          <a:stretch>
            <a:fillRect/>
          </a:stretch>
        </p:blipFill>
        <p:spPr>
          <a:xfrm>
            <a:off x="259311" y="167737"/>
            <a:ext cx="1031661" cy="103166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6"/>
          <p:cNvSpPr txBox="1"/>
          <p:nvPr>
            <p:ph type="title"/>
          </p:nvPr>
        </p:nvSpPr>
        <p:spPr>
          <a:xfrm>
            <a:off x="1379846" y="167735"/>
            <a:ext cx="3741900" cy="18366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2600"/>
              <a:buFont typeface="Arial"/>
              <a:buNone/>
            </a:pPr>
            <a:r>
              <a:rPr lang="nl"/>
              <a:t>The student:</a:t>
            </a:r>
            <a:endParaRPr/>
          </a:p>
        </p:txBody>
      </p:sp>
      <p:sp>
        <p:nvSpPr>
          <p:cNvPr id="123" name="Google Shape;123;p26"/>
          <p:cNvSpPr txBox="1"/>
          <p:nvPr>
            <p:ph idx="1" type="body"/>
          </p:nvPr>
        </p:nvSpPr>
        <p:spPr>
          <a:xfrm>
            <a:off x="259300" y="1199400"/>
            <a:ext cx="4204500" cy="36636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200"/>
              </a:spcBef>
              <a:spcAft>
                <a:spcPts val="0"/>
              </a:spcAft>
              <a:buNone/>
            </a:pPr>
            <a:r>
              <a:rPr b="1" lang="nl" sz="1200"/>
              <a:t>Maven Fundamentals</a:t>
            </a:r>
            <a:endParaRPr b="1" sz="1200"/>
          </a:p>
          <a:p>
            <a:pPr indent="-304800" lvl="0" marL="457200" rtl="0" algn="l">
              <a:lnSpc>
                <a:spcPct val="115000"/>
              </a:lnSpc>
              <a:spcBef>
                <a:spcPts val="1200"/>
              </a:spcBef>
              <a:spcAft>
                <a:spcPts val="0"/>
              </a:spcAft>
              <a:buSzPts val="1200"/>
              <a:buChar char="●"/>
            </a:pPr>
            <a:r>
              <a:rPr lang="nl" sz="1200"/>
              <a:t>Can describe what Maven is and its purpose in build and project management.</a:t>
            </a:r>
            <a:endParaRPr sz="1200"/>
          </a:p>
          <a:p>
            <a:pPr indent="-304800" lvl="0" marL="457200" rtl="0" algn="l">
              <a:lnSpc>
                <a:spcPct val="115000"/>
              </a:lnSpc>
              <a:spcBef>
                <a:spcPts val="0"/>
              </a:spcBef>
              <a:spcAft>
                <a:spcPts val="0"/>
              </a:spcAft>
              <a:buSzPts val="1200"/>
              <a:buChar char="●"/>
            </a:pPr>
            <a:r>
              <a:rPr lang="nl" sz="1200"/>
              <a:t>Understands Maven’s lifecycle, including:</a:t>
            </a:r>
            <a:endParaRPr sz="1200"/>
          </a:p>
          <a:p>
            <a:pPr indent="-304800" lvl="1" marL="914400" rtl="0" algn="l">
              <a:lnSpc>
                <a:spcPct val="115000"/>
              </a:lnSpc>
              <a:spcBef>
                <a:spcPts val="0"/>
              </a:spcBef>
              <a:spcAft>
                <a:spcPts val="0"/>
              </a:spcAft>
              <a:buSzPts val="1200"/>
              <a:buChar char="○"/>
            </a:pPr>
            <a:r>
              <a:rPr lang="nl" sz="1200"/>
              <a:t>Phases (e.g., </a:t>
            </a:r>
            <a:r>
              <a:rPr lang="nl" sz="1200">
                <a:solidFill>
                  <a:srgbClr val="188038"/>
                </a:solidFill>
                <a:latin typeface="Roboto Mono"/>
                <a:ea typeface="Roboto Mono"/>
                <a:cs typeface="Roboto Mono"/>
                <a:sym typeface="Roboto Mono"/>
              </a:rPr>
              <a:t>validate</a:t>
            </a:r>
            <a:r>
              <a:rPr lang="nl" sz="1200"/>
              <a:t>, </a:t>
            </a:r>
            <a:r>
              <a:rPr lang="nl" sz="1200">
                <a:solidFill>
                  <a:srgbClr val="188038"/>
                </a:solidFill>
                <a:latin typeface="Roboto Mono"/>
                <a:ea typeface="Roboto Mono"/>
                <a:cs typeface="Roboto Mono"/>
                <a:sym typeface="Roboto Mono"/>
              </a:rPr>
              <a:t>compile</a:t>
            </a:r>
            <a:r>
              <a:rPr lang="nl" sz="1200"/>
              <a:t>, </a:t>
            </a:r>
            <a:r>
              <a:rPr lang="nl" sz="1200">
                <a:solidFill>
                  <a:srgbClr val="188038"/>
                </a:solidFill>
                <a:latin typeface="Roboto Mono"/>
                <a:ea typeface="Roboto Mono"/>
                <a:cs typeface="Roboto Mono"/>
                <a:sym typeface="Roboto Mono"/>
              </a:rPr>
              <a:t>test</a:t>
            </a:r>
            <a:r>
              <a:rPr lang="nl" sz="1200"/>
              <a:t>, </a:t>
            </a:r>
            <a:r>
              <a:rPr lang="nl" sz="1200">
                <a:solidFill>
                  <a:srgbClr val="188038"/>
                </a:solidFill>
                <a:latin typeface="Roboto Mono"/>
                <a:ea typeface="Roboto Mono"/>
                <a:cs typeface="Roboto Mono"/>
                <a:sym typeface="Roboto Mono"/>
              </a:rPr>
              <a:t>package</a:t>
            </a:r>
            <a:r>
              <a:rPr lang="nl" sz="1200"/>
              <a:t>, </a:t>
            </a:r>
            <a:r>
              <a:rPr lang="nl" sz="1200">
                <a:solidFill>
                  <a:srgbClr val="188038"/>
                </a:solidFill>
                <a:latin typeface="Roboto Mono"/>
                <a:ea typeface="Roboto Mono"/>
                <a:cs typeface="Roboto Mono"/>
                <a:sym typeface="Roboto Mono"/>
              </a:rPr>
              <a:t>install</a:t>
            </a:r>
            <a:r>
              <a:rPr lang="nl" sz="1200"/>
              <a:t>, </a:t>
            </a:r>
            <a:r>
              <a:rPr lang="nl" sz="1200">
                <a:solidFill>
                  <a:srgbClr val="188038"/>
                </a:solidFill>
                <a:latin typeface="Roboto Mono"/>
                <a:ea typeface="Roboto Mono"/>
                <a:cs typeface="Roboto Mono"/>
                <a:sym typeface="Roboto Mono"/>
              </a:rPr>
              <a:t>deploy</a:t>
            </a:r>
            <a:r>
              <a:rPr lang="nl" sz="1200"/>
              <a:t>).</a:t>
            </a:r>
            <a:endParaRPr sz="1200"/>
          </a:p>
          <a:p>
            <a:pPr indent="-304800" lvl="1" marL="914400" rtl="0" algn="l">
              <a:lnSpc>
                <a:spcPct val="115000"/>
              </a:lnSpc>
              <a:spcBef>
                <a:spcPts val="0"/>
              </a:spcBef>
              <a:spcAft>
                <a:spcPts val="0"/>
              </a:spcAft>
              <a:buSzPts val="1200"/>
              <a:buChar char="○"/>
            </a:pPr>
            <a:r>
              <a:rPr lang="nl" sz="1200"/>
              <a:t>Goals and their execution in specific phases.</a:t>
            </a:r>
            <a:endParaRPr sz="1200"/>
          </a:p>
          <a:p>
            <a:pPr indent="-304800" lvl="0" marL="457200" rtl="0" algn="l">
              <a:lnSpc>
                <a:spcPct val="115000"/>
              </a:lnSpc>
              <a:spcBef>
                <a:spcPts val="0"/>
              </a:spcBef>
              <a:spcAft>
                <a:spcPts val="0"/>
              </a:spcAft>
              <a:buSzPts val="1200"/>
              <a:buChar char="●"/>
            </a:pPr>
            <a:r>
              <a:rPr lang="nl" sz="1200"/>
              <a:t>Can explain how Maven uses plugins to extend functionality, such as the Surefire and Failsafe plugins.</a:t>
            </a:r>
            <a:endParaRPr b="1" sz="1200"/>
          </a:p>
          <a:p>
            <a:pPr indent="-304800" lvl="0" marL="457200" rtl="0" algn="l">
              <a:lnSpc>
                <a:spcPct val="115000"/>
              </a:lnSpc>
              <a:spcBef>
                <a:spcPts val="0"/>
              </a:spcBef>
              <a:spcAft>
                <a:spcPts val="0"/>
              </a:spcAft>
              <a:buSzPts val="1200"/>
              <a:buChar char="●"/>
            </a:pPr>
            <a:r>
              <a:rPr lang="nl" sz="1200"/>
              <a:t>Knows the purpose of the Surefire plugin for running unit tests and generating test reports.</a:t>
            </a:r>
            <a:endParaRPr sz="1200"/>
          </a:p>
          <a:p>
            <a:pPr indent="-304800" lvl="0" marL="457200" rtl="0" algn="l">
              <a:lnSpc>
                <a:spcPct val="115000"/>
              </a:lnSpc>
              <a:spcBef>
                <a:spcPts val="0"/>
              </a:spcBef>
              <a:spcAft>
                <a:spcPts val="0"/>
              </a:spcAft>
              <a:buSzPts val="1200"/>
              <a:buChar char="●"/>
            </a:pPr>
            <a:r>
              <a:rPr lang="nl" sz="1200"/>
              <a:t>Understands the role of the Failsafe plugin in executing integration tests and generating reports.</a:t>
            </a:r>
            <a:endParaRPr sz="1200"/>
          </a:p>
          <a:p>
            <a:pPr indent="-304800" lvl="0" marL="457200" rtl="0" algn="l">
              <a:lnSpc>
                <a:spcPct val="115000"/>
              </a:lnSpc>
              <a:spcBef>
                <a:spcPts val="0"/>
              </a:spcBef>
              <a:spcAft>
                <a:spcPts val="0"/>
              </a:spcAft>
              <a:buSzPts val="1200"/>
              <a:buChar char="●"/>
            </a:pPr>
            <a:r>
              <a:rPr lang="nl" sz="1200"/>
              <a:t>Can generate and interpret test reports.</a:t>
            </a:r>
            <a:endParaRPr b="1" sz="1200"/>
          </a:p>
        </p:txBody>
      </p:sp>
      <p:pic>
        <p:nvPicPr>
          <p:cNvPr id="124" name="Google Shape;124;p26"/>
          <p:cNvPicPr preferRelativeResize="0"/>
          <p:nvPr/>
        </p:nvPicPr>
        <p:blipFill>
          <a:blip r:embed="rId3">
            <a:alphaModFix/>
          </a:blip>
          <a:stretch>
            <a:fillRect/>
          </a:stretch>
        </p:blipFill>
        <p:spPr>
          <a:xfrm>
            <a:off x="259311" y="167737"/>
            <a:ext cx="1031661" cy="103166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7"/>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Lifecycle </a:t>
            </a:r>
            <a:endParaRPr/>
          </a:p>
          <a:p>
            <a:pPr indent="0" lvl="0" marL="0" rtl="0" algn="l">
              <a:spcBef>
                <a:spcPts val="0"/>
              </a:spcBef>
              <a:spcAft>
                <a:spcPts val="0"/>
              </a:spcAft>
              <a:buNone/>
            </a:pPr>
            <a:r>
              <a:rPr lang="nl"/>
              <a:t>of a test</a:t>
            </a:r>
            <a:endParaRPr/>
          </a:p>
        </p:txBody>
      </p:sp>
      <p:pic>
        <p:nvPicPr>
          <p:cNvPr id="130" name="Google Shape;130;p27"/>
          <p:cNvPicPr preferRelativeResize="0"/>
          <p:nvPr/>
        </p:nvPicPr>
        <p:blipFill>
          <a:blip r:embed="rId3">
            <a:alphaModFix/>
          </a:blip>
          <a:stretch>
            <a:fillRect/>
          </a:stretch>
        </p:blipFill>
        <p:spPr>
          <a:xfrm>
            <a:off x="3328150" y="183000"/>
            <a:ext cx="5665150" cy="4830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8"/>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Frequency of test execution</a:t>
            </a:r>
            <a:endParaRPr/>
          </a:p>
        </p:txBody>
      </p:sp>
      <p:pic>
        <p:nvPicPr>
          <p:cNvPr id="136" name="Google Shape;136;p28"/>
          <p:cNvPicPr preferRelativeResize="0"/>
          <p:nvPr/>
        </p:nvPicPr>
        <p:blipFill>
          <a:blip r:embed="rId3">
            <a:alphaModFix/>
          </a:blip>
          <a:stretch>
            <a:fillRect/>
          </a:stretch>
        </p:blipFill>
        <p:spPr>
          <a:xfrm>
            <a:off x="1361098" y="1004375"/>
            <a:ext cx="5441750" cy="3862900"/>
          </a:xfrm>
          <a:prstGeom prst="rect">
            <a:avLst/>
          </a:prstGeom>
          <a:noFill/>
          <a:ln>
            <a:noFill/>
          </a:ln>
        </p:spPr>
      </p:pic>
      <p:pic>
        <p:nvPicPr>
          <p:cNvPr id="137" name="Google Shape;137;p28"/>
          <p:cNvPicPr preferRelativeResize="0"/>
          <p:nvPr/>
        </p:nvPicPr>
        <p:blipFill>
          <a:blip r:embed="rId4">
            <a:alphaModFix/>
          </a:blip>
          <a:stretch>
            <a:fillRect/>
          </a:stretch>
        </p:blipFill>
        <p:spPr>
          <a:xfrm>
            <a:off x="4038650" y="3571488"/>
            <a:ext cx="4838700" cy="1457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9"/>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Mass testing creates mass data</a:t>
            </a:r>
            <a:endParaRPr/>
          </a:p>
        </p:txBody>
      </p:sp>
      <p:sp>
        <p:nvSpPr>
          <p:cNvPr id="143" name="Google Shape;143;p29"/>
          <p:cNvSpPr txBox="1"/>
          <p:nvPr>
            <p:ph idx="1" type="body"/>
          </p:nvPr>
        </p:nvSpPr>
        <p:spPr>
          <a:xfrm>
            <a:off x="628650" y="1369219"/>
            <a:ext cx="7886700" cy="2913900"/>
          </a:xfrm>
          <a:prstGeom prst="rect">
            <a:avLst/>
          </a:prstGeom>
        </p:spPr>
        <p:txBody>
          <a:bodyPr anchorCtr="0" anchor="t" bIns="34275" lIns="68575" spcFirstLastPara="1" rIns="68575" wrap="square" tIns="34275">
            <a:normAutofit/>
          </a:bodyPr>
          <a:lstStyle/>
          <a:p>
            <a:pPr indent="0" lvl="0" marL="0" rtl="0" algn="l">
              <a:lnSpc>
                <a:spcPct val="150000"/>
              </a:lnSpc>
              <a:spcBef>
                <a:spcPts val="800"/>
              </a:spcBef>
              <a:spcAft>
                <a:spcPts val="0"/>
              </a:spcAft>
              <a:buNone/>
            </a:pPr>
            <a:r>
              <a:rPr lang="nl"/>
              <a:t>Every execution of a test, whether automated or manual, generates extra work products, such as test logs. </a:t>
            </a:r>
            <a:endParaRPr/>
          </a:p>
          <a:p>
            <a:pPr indent="0" lvl="0" marL="0" rtl="0" algn="l">
              <a:lnSpc>
                <a:spcPct val="150000"/>
              </a:lnSpc>
              <a:spcBef>
                <a:spcPts val="800"/>
              </a:spcBef>
              <a:spcAft>
                <a:spcPts val="0"/>
              </a:spcAft>
              <a:buNone/>
            </a:pPr>
            <a:r>
              <a:rPr lang="nl"/>
              <a:t>Each of these work products potentially provides a valuable contribution to the evaluation of the SUT’s overall quality. This in turn means that all the test logs should be analyzed by testers, especially those relating to failed tests.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0"/>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Log sources</a:t>
            </a:r>
            <a:endParaRPr/>
          </a:p>
        </p:txBody>
      </p:sp>
      <p:pic>
        <p:nvPicPr>
          <p:cNvPr id="149" name="Google Shape;149;p30"/>
          <p:cNvPicPr preferRelativeResize="0"/>
          <p:nvPr/>
        </p:nvPicPr>
        <p:blipFill>
          <a:blip r:embed="rId3">
            <a:alphaModFix/>
          </a:blip>
          <a:stretch>
            <a:fillRect/>
          </a:stretch>
        </p:blipFill>
        <p:spPr>
          <a:xfrm>
            <a:off x="3417825" y="273850"/>
            <a:ext cx="5030173" cy="4869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1"/>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Purpose of Reporting</a:t>
            </a:r>
            <a:endParaRPr/>
          </a:p>
        </p:txBody>
      </p:sp>
      <p:sp>
        <p:nvSpPr>
          <p:cNvPr id="155" name="Google Shape;155;p31"/>
          <p:cNvSpPr/>
          <p:nvPr/>
        </p:nvSpPr>
        <p:spPr>
          <a:xfrm>
            <a:off x="813825" y="1295400"/>
            <a:ext cx="1938600" cy="19494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nl"/>
              <a:t>Status reporting</a:t>
            </a:r>
            <a:endParaRPr/>
          </a:p>
        </p:txBody>
      </p:sp>
      <p:sp>
        <p:nvSpPr>
          <p:cNvPr id="156" name="Google Shape;156;p31"/>
          <p:cNvSpPr/>
          <p:nvPr/>
        </p:nvSpPr>
        <p:spPr>
          <a:xfrm>
            <a:off x="3470150" y="1267950"/>
            <a:ext cx="1938600" cy="19494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nl"/>
              <a:t>Metrics</a:t>
            </a:r>
            <a:endParaRPr/>
          </a:p>
        </p:txBody>
      </p:sp>
      <p:sp>
        <p:nvSpPr>
          <p:cNvPr id="157" name="Google Shape;157;p31"/>
          <p:cNvSpPr/>
          <p:nvPr/>
        </p:nvSpPr>
        <p:spPr>
          <a:xfrm>
            <a:off x="6050275" y="1371600"/>
            <a:ext cx="1938600" cy="1800000"/>
          </a:xfrm>
          <a:prstGeom prst="rect">
            <a:avLst/>
          </a:prstGeom>
          <a:solidFill>
            <a:srgbClr val="D5A6B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nl"/>
              <a:t>Supporting test failure investigation</a:t>
            </a:r>
            <a:endParaRPr/>
          </a:p>
        </p:txBody>
      </p:sp>
      <p:sp>
        <p:nvSpPr>
          <p:cNvPr id="158" name="Google Shape;158;p31"/>
          <p:cNvSpPr/>
          <p:nvPr/>
        </p:nvSpPr>
        <p:spPr>
          <a:xfrm>
            <a:off x="3470150" y="4193400"/>
            <a:ext cx="1938600" cy="7977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nl"/>
              <a:t>Identify areas for improvement</a:t>
            </a:r>
            <a:endParaRPr/>
          </a:p>
        </p:txBody>
      </p:sp>
      <p:sp>
        <p:nvSpPr>
          <p:cNvPr id="159" name="Google Shape;159;p31"/>
          <p:cNvSpPr/>
          <p:nvPr/>
        </p:nvSpPr>
        <p:spPr>
          <a:xfrm>
            <a:off x="3470150" y="3302625"/>
            <a:ext cx="1938600" cy="7977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nl"/>
              <a:t>Measuring success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2"/>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Quality criteria for reports</a:t>
            </a:r>
            <a:endParaRPr/>
          </a:p>
        </p:txBody>
      </p:sp>
      <p:sp>
        <p:nvSpPr>
          <p:cNvPr id="165" name="Google Shape;165;p32"/>
          <p:cNvSpPr txBox="1"/>
          <p:nvPr>
            <p:ph idx="1" type="body"/>
          </p:nvPr>
        </p:nvSpPr>
        <p:spPr>
          <a:xfrm>
            <a:off x="628650" y="1369219"/>
            <a:ext cx="7886700" cy="2913900"/>
          </a:xfrm>
          <a:prstGeom prst="rect">
            <a:avLst/>
          </a:prstGeom>
        </p:spPr>
        <p:txBody>
          <a:bodyPr anchorCtr="0" anchor="t" bIns="34275" lIns="68575" spcFirstLastPara="1" rIns="68575" wrap="square" tIns="34275">
            <a:normAutofit/>
          </a:bodyPr>
          <a:lstStyle/>
          <a:p>
            <a:pPr indent="-317500" lvl="0" marL="457200" rtl="0" algn="l">
              <a:lnSpc>
                <a:spcPct val="150000"/>
              </a:lnSpc>
              <a:spcBef>
                <a:spcPts val="800"/>
              </a:spcBef>
              <a:spcAft>
                <a:spcPts val="0"/>
              </a:spcAft>
              <a:buSzPts val="1400"/>
              <a:buChar char="-"/>
            </a:pPr>
            <a:r>
              <a:rPr lang="nl"/>
              <a:t>M</a:t>
            </a:r>
            <a:r>
              <a:rPr lang="nl"/>
              <a:t>ust be a valid representation of reality</a:t>
            </a:r>
            <a:endParaRPr/>
          </a:p>
          <a:p>
            <a:pPr indent="-317500" lvl="0" marL="457200" rtl="0" algn="l">
              <a:lnSpc>
                <a:spcPct val="150000"/>
              </a:lnSpc>
              <a:spcBef>
                <a:spcPts val="0"/>
              </a:spcBef>
              <a:spcAft>
                <a:spcPts val="0"/>
              </a:spcAft>
              <a:buSzPts val="1400"/>
              <a:buChar char="-"/>
            </a:pPr>
            <a:r>
              <a:rPr lang="nl"/>
              <a:t>A report must be created with the target audience in mind</a:t>
            </a:r>
            <a:endParaRPr/>
          </a:p>
          <a:p>
            <a:pPr indent="-317500" lvl="0" marL="457200" rtl="0" algn="l">
              <a:lnSpc>
                <a:spcPct val="150000"/>
              </a:lnSpc>
              <a:spcBef>
                <a:spcPts val="0"/>
              </a:spcBef>
              <a:spcAft>
                <a:spcPts val="0"/>
              </a:spcAft>
              <a:buSzPts val="1400"/>
              <a:buChar char="-"/>
            </a:pPr>
            <a:r>
              <a:rPr lang="nl"/>
              <a:t>A report’s format and publication channel must be compatible with its intended use</a:t>
            </a:r>
            <a:endParaRPr/>
          </a:p>
          <a:p>
            <a:pPr indent="-317500" lvl="0" marL="457200" rtl="0" algn="l">
              <a:lnSpc>
                <a:spcPct val="150000"/>
              </a:lnSpc>
              <a:spcBef>
                <a:spcPts val="0"/>
              </a:spcBef>
              <a:spcAft>
                <a:spcPts val="0"/>
              </a:spcAft>
              <a:buSzPts val="1400"/>
              <a:buChar char="-"/>
            </a:pPr>
            <a:r>
              <a:rPr lang="nl"/>
              <a:t>A report should indicate which types of valid interpretations can be made and which types of inferences are invalid</a:t>
            </a:r>
            <a:endParaRPr sz="1200">
              <a:solidFill>
                <a:srgbClr val="3D3B49"/>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3"/>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Metrics</a:t>
            </a:r>
            <a:endParaRPr/>
          </a:p>
        </p:txBody>
      </p:sp>
      <p:sp>
        <p:nvSpPr>
          <p:cNvPr id="171" name="Google Shape;171;p33"/>
          <p:cNvSpPr txBox="1"/>
          <p:nvPr>
            <p:ph idx="1" type="body"/>
          </p:nvPr>
        </p:nvSpPr>
        <p:spPr>
          <a:xfrm>
            <a:off x="628650" y="1369219"/>
            <a:ext cx="7886700" cy="29139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nl"/>
              <a:t>Metrics derive information from raw data with a view to help in decision making.</a:t>
            </a:r>
            <a:endParaRPr/>
          </a:p>
        </p:txBody>
      </p:sp>
      <p:pic>
        <p:nvPicPr>
          <p:cNvPr id="172" name="Google Shape;172;p33"/>
          <p:cNvPicPr preferRelativeResize="0"/>
          <p:nvPr/>
        </p:nvPicPr>
        <p:blipFill>
          <a:blip r:embed="rId3">
            <a:alphaModFix/>
          </a:blip>
          <a:stretch>
            <a:fillRect/>
          </a:stretch>
        </p:blipFill>
        <p:spPr>
          <a:xfrm>
            <a:off x="4412588" y="1857113"/>
            <a:ext cx="3381375" cy="30194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4"/>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Why metrics in testing?</a:t>
            </a:r>
            <a:endParaRPr/>
          </a:p>
        </p:txBody>
      </p:sp>
      <p:sp>
        <p:nvSpPr>
          <p:cNvPr id="178" name="Google Shape;178;p34"/>
          <p:cNvSpPr txBox="1"/>
          <p:nvPr>
            <p:ph idx="1" type="body"/>
          </p:nvPr>
        </p:nvSpPr>
        <p:spPr>
          <a:xfrm>
            <a:off x="628650" y="1369226"/>
            <a:ext cx="7886700" cy="3252600"/>
          </a:xfrm>
          <a:prstGeom prst="rect">
            <a:avLst/>
          </a:prstGeom>
        </p:spPr>
        <p:txBody>
          <a:bodyPr anchorCtr="0" anchor="t" bIns="34275" lIns="68575" spcFirstLastPara="1" rIns="68575" wrap="square" tIns="34275">
            <a:normAutofit fontScale="85000"/>
          </a:bodyPr>
          <a:lstStyle/>
          <a:p>
            <a:pPr indent="-304165" lvl="0" marL="457200" rtl="0" algn="l">
              <a:lnSpc>
                <a:spcPct val="150000"/>
              </a:lnSpc>
              <a:spcBef>
                <a:spcPts val="800"/>
              </a:spcBef>
              <a:spcAft>
                <a:spcPts val="0"/>
              </a:spcAft>
              <a:buSzPct val="77778"/>
              <a:buChar char="-"/>
            </a:pPr>
            <a:r>
              <a:rPr lang="nl"/>
              <a:t>Testing is the penultimate phase before product release.</a:t>
            </a:r>
            <a:endParaRPr/>
          </a:p>
          <a:p>
            <a:pPr indent="-304165" lvl="0" marL="457200" rtl="0" algn="l">
              <a:lnSpc>
                <a:spcPct val="150000"/>
              </a:lnSpc>
              <a:spcBef>
                <a:spcPts val="0"/>
              </a:spcBef>
              <a:spcAft>
                <a:spcPts val="0"/>
              </a:spcAft>
              <a:buSzPct val="77778"/>
              <a:buChar char="-"/>
            </a:pPr>
            <a:r>
              <a:rPr lang="nl"/>
              <a:t>It’s essential to measure the progress of testing and the product quality.</a:t>
            </a:r>
            <a:endParaRPr/>
          </a:p>
          <a:p>
            <a:pPr indent="-304165" lvl="0" marL="457200" rtl="0" algn="l">
              <a:lnSpc>
                <a:spcPct val="150000"/>
              </a:lnSpc>
              <a:spcBef>
                <a:spcPts val="0"/>
              </a:spcBef>
              <a:spcAft>
                <a:spcPts val="0"/>
              </a:spcAft>
              <a:buSzPct val="77778"/>
              <a:buChar char="-"/>
            </a:pPr>
            <a:r>
              <a:rPr i="1" lang="nl"/>
              <a:t>test case execution productivity</a:t>
            </a:r>
            <a:r>
              <a:rPr lang="nl"/>
              <a:t> = test cases that can be executed per person day</a:t>
            </a:r>
            <a:endParaRPr/>
          </a:p>
          <a:p>
            <a:pPr indent="-304165" lvl="0" marL="457200" rtl="0" algn="l">
              <a:lnSpc>
                <a:spcPct val="150000"/>
              </a:lnSpc>
              <a:spcBef>
                <a:spcPts val="0"/>
              </a:spcBef>
              <a:spcAft>
                <a:spcPts val="0"/>
              </a:spcAft>
              <a:buSzPct val="77778"/>
              <a:buChar char="-"/>
            </a:pPr>
            <a:r>
              <a:rPr lang="nl"/>
              <a:t>estimate </a:t>
            </a:r>
            <a:r>
              <a:rPr i="1" lang="nl"/>
              <a:t>test completion date</a:t>
            </a:r>
            <a:br>
              <a:rPr i="1" lang="nl"/>
            </a:br>
            <a:endParaRPr i="1"/>
          </a:p>
          <a:p>
            <a:pPr indent="-304165" lvl="0" marL="457200" rtl="0" algn="l">
              <a:lnSpc>
                <a:spcPct val="150000"/>
              </a:lnSpc>
              <a:spcBef>
                <a:spcPts val="0"/>
              </a:spcBef>
              <a:spcAft>
                <a:spcPts val="0"/>
              </a:spcAft>
              <a:buSzPct val="77778"/>
              <a:buChar char="-"/>
            </a:pPr>
            <a:r>
              <a:rPr i="1" lang="nl"/>
              <a:t>defect trend = </a:t>
            </a:r>
            <a:r>
              <a:rPr lang="nl"/>
              <a:t>estimate of the defects that will come through future test cycles</a:t>
            </a:r>
            <a:endParaRPr/>
          </a:p>
          <a:p>
            <a:pPr indent="-304165" lvl="0" marL="457200" rtl="0" algn="l">
              <a:lnSpc>
                <a:spcPct val="150000"/>
              </a:lnSpc>
              <a:spcBef>
                <a:spcPts val="0"/>
              </a:spcBef>
              <a:spcAft>
                <a:spcPts val="0"/>
              </a:spcAft>
              <a:buSzPct val="77778"/>
              <a:buChar char="-"/>
            </a:pPr>
            <a:r>
              <a:rPr i="1" lang="nl"/>
              <a:t>defect-fixing capability = </a:t>
            </a:r>
            <a:r>
              <a:rPr lang="nl"/>
              <a:t>the number of defects that can be fixed in a particular period</a:t>
            </a:r>
            <a:endParaRPr/>
          </a:p>
          <a:p>
            <a:pPr indent="-304165" lvl="0" marL="457200" rtl="0" algn="l">
              <a:lnSpc>
                <a:spcPct val="150000"/>
              </a:lnSpc>
              <a:spcBef>
                <a:spcPts val="0"/>
              </a:spcBef>
              <a:spcAft>
                <a:spcPts val="0"/>
              </a:spcAft>
              <a:buSzPct val="77778"/>
              <a:buChar char="-"/>
            </a:pPr>
            <a:r>
              <a:rPr lang="nl"/>
              <a:t>both are important to be able to calculate the date the product can be released.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5"/>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Why metrics in testing?</a:t>
            </a:r>
            <a:endParaRPr/>
          </a:p>
        </p:txBody>
      </p:sp>
      <p:sp>
        <p:nvSpPr>
          <p:cNvPr id="184" name="Google Shape;184;p35"/>
          <p:cNvSpPr txBox="1"/>
          <p:nvPr>
            <p:ph idx="1" type="body"/>
          </p:nvPr>
        </p:nvSpPr>
        <p:spPr>
          <a:xfrm>
            <a:off x="628650" y="1369219"/>
            <a:ext cx="7886700" cy="2913900"/>
          </a:xfrm>
          <a:prstGeom prst="rect">
            <a:avLst/>
          </a:prstGeom>
        </p:spPr>
        <p:txBody>
          <a:bodyPr anchorCtr="0" anchor="t" bIns="34275" lIns="68575" spcFirstLastPara="1" rIns="68575" wrap="square" tIns="34275">
            <a:normAutofit/>
          </a:bodyPr>
          <a:lstStyle/>
          <a:p>
            <a:pPr indent="0" lvl="0" marL="0" rtl="0" algn="l">
              <a:lnSpc>
                <a:spcPct val="150000"/>
              </a:lnSpc>
              <a:spcBef>
                <a:spcPts val="800"/>
              </a:spcBef>
              <a:spcAft>
                <a:spcPts val="0"/>
              </a:spcAft>
              <a:buNone/>
            </a:pPr>
            <a:r>
              <a:rPr lang="nl"/>
              <a:t>Metrics in testing help in identifying:</a:t>
            </a:r>
            <a:endParaRPr/>
          </a:p>
          <a:p>
            <a:pPr indent="-317500" lvl="0" marL="457200" rtl="0" algn="l">
              <a:lnSpc>
                <a:spcPct val="150000"/>
              </a:lnSpc>
              <a:spcBef>
                <a:spcPts val="800"/>
              </a:spcBef>
              <a:spcAft>
                <a:spcPts val="0"/>
              </a:spcAft>
              <a:buSzPts val="1400"/>
              <a:buChar char="-"/>
            </a:pPr>
            <a:r>
              <a:rPr lang="nl"/>
              <a:t>when to make the release</a:t>
            </a:r>
            <a:endParaRPr/>
          </a:p>
          <a:p>
            <a:pPr indent="-317500" lvl="0" marL="457200" rtl="0" algn="l">
              <a:lnSpc>
                <a:spcPct val="150000"/>
              </a:lnSpc>
              <a:spcBef>
                <a:spcPts val="0"/>
              </a:spcBef>
              <a:spcAft>
                <a:spcPts val="0"/>
              </a:spcAft>
              <a:buSzPts val="1400"/>
              <a:buChar char="-"/>
            </a:pPr>
            <a:r>
              <a:rPr lang="nl"/>
              <a:t>what to release (defect density </a:t>
            </a:r>
            <a:r>
              <a:rPr lang="nl"/>
              <a:t>across</a:t>
            </a:r>
            <a:r>
              <a:rPr lang="nl"/>
              <a:t> modules)</a:t>
            </a:r>
            <a:endParaRPr/>
          </a:p>
          <a:p>
            <a:pPr indent="-317500" lvl="0" marL="457200" rtl="0" algn="l">
              <a:lnSpc>
                <a:spcPct val="150000"/>
              </a:lnSpc>
              <a:spcBef>
                <a:spcPts val="0"/>
              </a:spcBef>
              <a:spcAft>
                <a:spcPts val="0"/>
              </a:spcAft>
              <a:buSzPts val="1400"/>
              <a:buChar char="-"/>
            </a:pPr>
            <a:r>
              <a:rPr lang="nl"/>
              <a:t>whether the product is being released with the known quality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6"/>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Aspects of a metric</a:t>
            </a:r>
            <a:endParaRPr/>
          </a:p>
        </p:txBody>
      </p:sp>
      <p:sp>
        <p:nvSpPr>
          <p:cNvPr id="190" name="Google Shape;190;p36"/>
          <p:cNvSpPr/>
          <p:nvPr/>
        </p:nvSpPr>
        <p:spPr>
          <a:xfrm>
            <a:off x="813825" y="1779725"/>
            <a:ext cx="1938600" cy="20940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nl"/>
              <a:t>Validity</a:t>
            </a:r>
            <a:endParaRPr/>
          </a:p>
        </p:txBody>
      </p:sp>
      <p:sp>
        <p:nvSpPr>
          <p:cNvPr id="191" name="Google Shape;191;p36"/>
          <p:cNvSpPr/>
          <p:nvPr/>
        </p:nvSpPr>
        <p:spPr>
          <a:xfrm>
            <a:off x="3470150" y="1752275"/>
            <a:ext cx="1938600" cy="2094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nl"/>
              <a:t>Objectivity</a:t>
            </a:r>
            <a:endParaRPr/>
          </a:p>
        </p:txBody>
      </p:sp>
      <p:sp>
        <p:nvSpPr>
          <p:cNvPr id="192" name="Google Shape;192;p36"/>
          <p:cNvSpPr/>
          <p:nvPr/>
        </p:nvSpPr>
        <p:spPr>
          <a:xfrm>
            <a:off x="6050275" y="1779725"/>
            <a:ext cx="1938600" cy="2094000"/>
          </a:xfrm>
          <a:prstGeom prst="rect">
            <a:avLst/>
          </a:prstGeom>
          <a:solidFill>
            <a:srgbClr val="D5A6B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nl"/>
              <a:t>Reliability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7"/>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Types of Metrics</a:t>
            </a:r>
            <a:endParaRPr/>
          </a:p>
        </p:txBody>
      </p:sp>
      <p:pic>
        <p:nvPicPr>
          <p:cNvPr id="198" name="Google Shape;198;p37"/>
          <p:cNvPicPr preferRelativeResize="0"/>
          <p:nvPr/>
        </p:nvPicPr>
        <p:blipFill>
          <a:blip r:embed="rId3">
            <a:alphaModFix/>
          </a:blip>
          <a:stretch>
            <a:fillRect/>
          </a:stretch>
        </p:blipFill>
        <p:spPr>
          <a:xfrm>
            <a:off x="2822300" y="1184869"/>
            <a:ext cx="4182332" cy="357065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8"/>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Examples of TAS (test automation solution) metrics</a:t>
            </a:r>
            <a:endParaRPr/>
          </a:p>
        </p:txBody>
      </p:sp>
      <p:sp>
        <p:nvSpPr>
          <p:cNvPr id="204" name="Google Shape;204;p38"/>
          <p:cNvSpPr txBox="1"/>
          <p:nvPr>
            <p:ph idx="1" type="body"/>
          </p:nvPr>
        </p:nvSpPr>
        <p:spPr>
          <a:xfrm>
            <a:off x="628650" y="1369219"/>
            <a:ext cx="7886700" cy="2913900"/>
          </a:xfrm>
          <a:prstGeom prst="rect">
            <a:avLst/>
          </a:prstGeom>
        </p:spPr>
        <p:txBody>
          <a:bodyPr anchorCtr="0" anchor="t" bIns="34275" lIns="68575" spcFirstLastPara="1" rIns="68575" wrap="square" tIns="34275">
            <a:normAutofit fontScale="85000" lnSpcReduction="20000"/>
          </a:bodyPr>
          <a:lstStyle/>
          <a:p>
            <a:pPr indent="-304165" lvl="0" marL="457200" rtl="0" algn="l">
              <a:lnSpc>
                <a:spcPct val="175000"/>
              </a:lnSpc>
              <a:spcBef>
                <a:spcPts val="1800"/>
              </a:spcBef>
              <a:spcAft>
                <a:spcPts val="0"/>
              </a:spcAft>
              <a:buSzPct val="77778"/>
              <a:buChar char="-"/>
            </a:pPr>
            <a:r>
              <a:rPr lang="nl"/>
              <a:t>Effort/Time required to build automated tests</a:t>
            </a:r>
            <a:endParaRPr/>
          </a:p>
          <a:p>
            <a:pPr indent="-293370" lvl="0" marL="457200" rtl="0" algn="l">
              <a:lnSpc>
                <a:spcPct val="175000"/>
              </a:lnSpc>
              <a:spcBef>
                <a:spcPts val="0"/>
              </a:spcBef>
              <a:spcAft>
                <a:spcPts val="0"/>
              </a:spcAft>
              <a:buClr>
                <a:srgbClr val="3D3B49"/>
              </a:buClr>
              <a:buSzPct val="66667"/>
              <a:buFont typeface="Times New Roman"/>
              <a:buChar char="-"/>
            </a:pPr>
            <a:r>
              <a:rPr lang="nl"/>
              <a:t>Effort/Time required to analyze automated test incidents</a:t>
            </a:r>
            <a:endParaRPr/>
          </a:p>
          <a:p>
            <a:pPr indent="-293370" lvl="0" marL="457200" rtl="0" algn="l">
              <a:lnSpc>
                <a:spcPct val="175000"/>
              </a:lnSpc>
              <a:spcBef>
                <a:spcPts val="0"/>
              </a:spcBef>
              <a:spcAft>
                <a:spcPts val="0"/>
              </a:spcAft>
              <a:buClr>
                <a:srgbClr val="3D3B49"/>
              </a:buClr>
              <a:buSzPct val="66667"/>
              <a:buFont typeface="Times New Roman"/>
              <a:buChar char="-"/>
            </a:pPr>
            <a:r>
              <a:rPr lang="nl"/>
              <a:t>Effort/Time required to maintain automated tests</a:t>
            </a:r>
            <a:endParaRPr/>
          </a:p>
          <a:p>
            <a:pPr indent="-293370" lvl="0" marL="457200" rtl="0" algn="l">
              <a:lnSpc>
                <a:spcPct val="175000"/>
              </a:lnSpc>
              <a:spcBef>
                <a:spcPts val="0"/>
              </a:spcBef>
              <a:spcAft>
                <a:spcPts val="0"/>
              </a:spcAft>
              <a:buClr>
                <a:srgbClr val="3D3B49"/>
              </a:buClr>
              <a:buSzPct val="66667"/>
              <a:buFont typeface="Times New Roman"/>
              <a:buChar char="-"/>
            </a:pPr>
            <a:r>
              <a:rPr lang="nl"/>
              <a:t>Ratio of failures to defects (failure of multiple tests reveal the same defects)</a:t>
            </a:r>
            <a:endParaRPr/>
          </a:p>
          <a:p>
            <a:pPr indent="-293370" lvl="0" marL="457200" rtl="0" algn="l">
              <a:lnSpc>
                <a:spcPct val="175000"/>
              </a:lnSpc>
              <a:spcBef>
                <a:spcPts val="0"/>
              </a:spcBef>
              <a:spcAft>
                <a:spcPts val="0"/>
              </a:spcAft>
              <a:buClr>
                <a:srgbClr val="3D3B49"/>
              </a:buClr>
              <a:buSzPct val="66667"/>
              <a:buFont typeface="Times New Roman"/>
              <a:buChar char="-"/>
            </a:pPr>
            <a:r>
              <a:rPr lang="nl"/>
              <a:t>Time to execute automated tests</a:t>
            </a:r>
            <a:endParaRPr/>
          </a:p>
          <a:p>
            <a:pPr indent="-293370" lvl="0" marL="457200" rtl="0" algn="l">
              <a:lnSpc>
                <a:spcPct val="175000"/>
              </a:lnSpc>
              <a:spcBef>
                <a:spcPts val="0"/>
              </a:spcBef>
              <a:spcAft>
                <a:spcPts val="0"/>
              </a:spcAft>
              <a:buClr>
                <a:srgbClr val="3D3B49"/>
              </a:buClr>
              <a:buSzPct val="66667"/>
              <a:buFont typeface="Times New Roman"/>
              <a:buChar char="-"/>
            </a:pPr>
            <a:r>
              <a:rPr lang="nl"/>
              <a:t>Number of automated test cases</a:t>
            </a:r>
            <a:endParaRPr/>
          </a:p>
          <a:p>
            <a:pPr indent="-293370" lvl="0" marL="457200" rtl="0" algn="l">
              <a:lnSpc>
                <a:spcPct val="175000"/>
              </a:lnSpc>
              <a:spcBef>
                <a:spcPts val="0"/>
              </a:spcBef>
              <a:spcAft>
                <a:spcPts val="0"/>
              </a:spcAft>
              <a:buClr>
                <a:srgbClr val="3D3B49"/>
              </a:buClr>
              <a:buSzPct val="66667"/>
              <a:buFont typeface="Times New Roman"/>
              <a:buChar char="-"/>
            </a:pPr>
            <a:r>
              <a:rPr lang="nl"/>
              <a:t>Number of pass and fail results</a:t>
            </a:r>
            <a:endParaRPr/>
          </a:p>
          <a:p>
            <a:pPr indent="-293370" lvl="0" marL="457200" rtl="0" algn="l">
              <a:lnSpc>
                <a:spcPct val="175000"/>
              </a:lnSpc>
              <a:spcBef>
                <a:spcPts val="0"/>
              </a:spcBef>
              <a:spcAft>
                <a:spcPts val="0"/>
              </a:spcAft>
              <a:buClr>
                <a:srgbClr val="3D3B49"/>
              </a:buClr>
              <a:buSzPct val="100000"/>
              <a:buFont typeface="Times New Roman"/>
              <a:buChar char="-"/>
            </a:pPr>
            <a:r>
              <a:rPr lang="nl"/>
              <a:t>Code/Test coverage</a:t>
            </a:r>
            <a:endParaRPr b="1" sz="1200">
              <a:solidFill>
                <a:srgbClr val="3D3B49"/>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9"/>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Progress metric example</a:t>
            </a:r>
            <a:endParaRPr/>
          </a:p>
        </p:txBody>
      </p:sp>
      <p:pic>
        <p:nvPicPr>
          <p:cNvPr id="210" name="Google Shape;210;p39"/>
          <p:cNvPicPr preferRelativeResize="0"/>
          <p:nvPr/>
        </p:nvPicPr>
        <p:blipFill>
          <a:blip r:embed="rId3">
            <a:alphaModFix/>
          </a:blip>
          <a:stretch>
            <a:fillRect/>
          </a:stretch>
        </p:blipFill>
        <p:spPr>
          <a:xfrm>
            <a:off x="1395300" y="1090626"/>
            <a:ext cx="5986575" cy="31556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40"/>
          <p:cNvPicPr preferRelativeResize="0"/>
          <p:nvPr/>
        </p:nvPicPr>
        <p:blipFill>
          <a:blip r:embed="rId3">
            <a:alphaModFix/>
          </a:blip>
          <a:stretch>
            <a:fillRect/>
          </a:stretch>
        </p:blipFill>
        <p:spPr>
          <a:xfrm>
            <a:off x="97725" y="103975"/>
            <a:ext cx="4910150" cy="2757500"/>
          </a:xfrm>
          <a:prstGeom prst="rect">
            <a:avLst/>
          </a:prstGeom>
          <a:noFill/>
          <a:ln>
            <a:noFill/>
          </a:ln>
        </p:spPr>
      </p:pic>
      <p:pic>
        <p:nvPicPr>
          <p:cNvPr id="216" name="Google Shape;216;p40"/>
          <p:cNvPicPr preferRelativeResize="0"/>
          <p:nvPr/>
        </p:nvPicPr>
        <p:blipFill>
          <a:blip r:embed="rId4">
            <a:alphaModFix/>
          </a:blip>
          <a:stretch>
            <a:fillRect/>
          </a:stretch>
        </p:blipFill>
        <p:spPr>
          <a:xfrm>
            <a:off x="4347050" y="2298350"/>
            <a:ext cx="4731225" cy="26990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1"/>
          <p:cNvSpPr txBox="1"/>
          <p:nvPr>
            <p:ph idx="1" type="body"/>
          </p:nvPr>
        </p:nvSpPr>
        <p:spPr>
          <a:xfrm>
            <a:off x="628650" y="1369219"/>
            <a:ext cx="7886700" cy="29139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222" name="Google Shape;222;p41"/>
          <p:cNvPicPr preferRelativeResize="0"/>
          <p:nvPr/>
        </p:nvPicPr>
        <p:blipFill>
          <a:blip r:embed="rId3">
            <a:alphaModFix/>
          </a:blip>
          <a:stretch>
            <a:fillRect/>
          </a:stretch>
        </p:blipFill>
        <p:spPr>
          <a:xfrm>
            <a:off x="62725" y="66425"/>
            <a:ext cx="5717200" cy="3932325"/>
          </a:xfrm>
          <a:prstGeom prst="rect">
            <a:avLst/>
          </a:prstGeom>
          <a:noFill/>
          <a:ln>
            <a:noFill/>
          </a:ln>
        </p:spPr>
      </p:pic>
      <p:pic>
        <p:nvPicPr>
          <p:cNvPr id="223" name="Google Shape;223;p41"/>
          <p:cNvPicPr preferRelativeResize="0"/>
          <p:nvPr/>
        </p:nvPicPr>
        <p:blipFill>
          <a:blip r:embed="rId4">
            <a:alphaModFix/>
          </a:blip>
          <a:stretch>
            <a:fillRect/>
          </a:stretch>
        </p:blipFill>
        <p:spPr>
          <a:xfrm>
            <a:off x="4747076" y="2187825"/>
            <a:ext cx="4396925" cy="2913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42"/>
          <p:cNvPicPr preferRelativeResize="0"/>
          <p:nvPr/>
        </p:nvPicPr>
        <p:blipFill>
          <a:blip r:embed="rId3">
            <a:alphaModFix/>
          </a:blip>
          <a:stretch>
            <a:fillRect/>
          </a:stretch>
        </p:blipFill>
        <p:spPr>
          <a:xfrm>
            <a:off x="2086624" y="774400"/>
            <a:ext cx="5274625" cy="34052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3"/>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Identify areas for improvement</a:t>
            </a:r>
            <a:endParaRPr/>
          </a:p>
        </p:txBody>
      </p:sp>
      <p:pic>
        <p:nvPicPr>
          <p:cNvPr id="234" name="Google Shape;234;p43"/>
          <p:cNvPicPr preferRelativeResize="0"/>
          <p:nvPr/>
        </p:nvPicPr>
        <p:blipFill>
          <a:blip r:embed="rId3">
            <a:alphaModFix/>
          </a:blip>
          <a:stretch>
            <a:fillRect/>
          </a:stretch>
        </p:blipFill>
        <p:spPr>
          <a:xfrm>
            <a:off x="2805113" y="1090613"/>
            <a:ext cx="4600575" cy="3571875"/>
          </a:xfrm>
          <a:prstGeom prst="rect">
            <a:avLst/>
          </a:prstGeom>
          <a:noFill/>
          <a:ln>
            <a:noFill/>
          </a:ln>
        </p:spPr>
      </p:pic>
      <p:sp>
        <p:nvSpPr>
          <p:cNvPr id="235" name="Google Shape;235;p43"/>
          <p:cNvSpPr/>
          <p:nvPr/>
        </p:nvSpPr>
        <p:spPr>
          <a:xfrm>
            <a:off x="761625" y="1268050"/>
            <a:ext cx="1961400" cy="67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nl"/>
              <a:t>Test suite run time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4"/>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Anomalies in metrics</a:t>
            </a:r>
            <a:endParaRPr/>
          </a:p>
        </p:txBody>
      </p:sp>
      <p:pic>
        <p:nvPicPr>
          <p:cNvPr id="241" name="Google Shape;241;p44"/>
          <p:cNvPicPr preferRelativeResize="0"/>
          <p:nvPr/>
        </p:nvPicPr>
        <p:blipFill>
          <a:blip r:embed="rId3">
            <a:alphaModFix/>
          </a:blip>
          <a:stretch>
            <a:fillRect/>
          </a:stretch>
        </p:blipFill>
        <p:spPr>
          <a:xfrm>
            <a:off x="2253550" y="1118425"/>
            <a:ext cx="6185601" cy="38774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5"/>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Test Failure Investigation</a:t>
            </a:r>
            <a:endParaRPr/>
          </a:p>
        </p:txBody>
      </p:sp>
      <p:sp>
        <p:nvSpPr>
          <p:cNvPr id="247" name="Google Shape;247;p45"/>
          <p:cNvSpPr txBox="1"/>
          <p:nvPr>
            <p:ph idx="1" type="body"/>
          </p:nvPr>
        </p:nvSpPr>
        <p:spPr>
          <a:xfrm>
            <a:off x="2768075" y="1519225"/>
            <a:ext cx="6085800" cy="29139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nl"/>
              <a:t>First step to fix is to recreate the failure</a:t>
            </a:r>
            <a:endParaRPr/>
          </a:p>
          <a:p>
            <a:pPr indent="0" lvl="0" marL="0" rtl="0" algn="l">
              <a:spcBef>
                <a:spcPts val="800"/>
              </a:spcBef>
              <a:spcAft>
                <a:spcPts val="0"/>
              </a:spcAft>
              <a:buNone/>
            </a:pPr>
            <a:r>
              <a:rPr lang="nl"/>
              <a:t>Test results</a:t>
            </a:r>
            <a:endParaRPr/>
          </a:p>
          <a:p>
            <a:pPr indent="-317500" lvl="0" marL="457200" rtl="0" algn="l">
              <a:spcBef>
                <a:spcPts val="800"/>
              </a:spcBef>
              <a:spcAft>
                <a:spcPts val="0"/>
              </a:spcAft>
              <a:buSzPts val="1400"/>
              <a:buChar char="-"/>
            </a:pPr>
            <a:r>
              <a:rPr lang="nl"/>
              <a:t>Informative error messages</a:t>
            </a:r>
            <a:endParaRPr/>
          </a:p>
          <a:p>
            <a:pPr indent="-317500" lvl="0" marL="457200" rtl="0" algn="l">
              <a:spcBef>
                <a:spcPts val="0"/>
              </a:spcBef>
              <a:spcAft>
                <a:spcPts val="0"/>
              </a:spcAft>
              <a:buSzPts val="1400"/>
              <a:buChar char="-"/>
            </a:pPr>
            <a:r>
              <a:rPr lang="nl"/>
              <a:t>Screenshot and videos</a:t>
            </a:r>
            <a:endParaRPr/>
          </a:p>
          <a:p>
            <a:pPr indent="-317500" lvl="0" marL="457200" rtl="0" algn="l">
              <a:spcBef>
                <a:spcPts val="0"/>
              </a:spcBef>
              <a:spcAft>
                <a:spcPts val="0"/>
              </a:spcAft>
              <a:buSzPts val="1400"/>
              <a:buChar char="-"/>
            </a:pPr>
            <a:r>
              <a:rPr lang="nl"/>
              <a:t>Environment details</a:t>
            </a:r>
            <a:endParaRPr/>
          </a:p>
          <a:p>
            <a:pPr indent="-317500" lvl="0" marL="457200" rtl="0" algn="l">
              <a:spcBef>
                <a:spcPts val="0"/>
              </a:spcBef>
              <a:spcAft>
                <a:spcPts val="0"/>
              </a:spcAft>
              <a:buSzPts val="1400"/>
              <a:buChar char="-"/>
            </a:pPr>
            <a:r>
              <a:rPr lang="nl"/>
              <a:t>Name of test</a:t>
            </a:r>
            <a:endParaRPr/>
          </a:p>
        </p:txBody>
      </p:sp>
      <p:pic>
        <p:nvPicPr>
          <p:cNvPr id="248" name="Google Shape;248;p45"/>
          <p:cNvPicPr preferRelativeResize="0"/>
          <p:nvPr/>
        </p:nvPicPr>
        <p:blipFill>
          <a:blip r:embed="rId3">
            <a:alphaModFix/>
          </a:blip>
          <a:stretch>
            <a:fillRect/>
          </a:stretch>
        </p:blipFill>
        <p:spPr>
          <a:xfrm>
            <a:off x="628638" y="1519225"/>
            <a:ext cx="2028825" cy="21050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6"/>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Benefits of using a TAS</a:t>
            </a:r>
            <a:endParaRPr/>
          </a:p>
        </p:txBody>
      </p:sp>
      <p:sp>
        <p:nvSpPr>
          <p:cNvPr id="254" name="Google Shape;254;p46"/>
          <p:cNvSpPr txBox="1"/>
          <p:nvPr>
            <p:ph idx="1" type="body"/>
          </p:nvPr>
        </p:nvSpPr>
        <p:spPr>
          <a:xfrm>
            <a:off x="628650" y="1369225"/>
            <a:ext cx="8082900" cy="2913900"/>
          </a:xfrm>
          <a:prstGeom prst="rect">
            <a:avLst/>
          </a:prstGeom>
        </p:spPr>
        <p:txBody>
          <a:bodyPr anchorCtr="0" anchor="t" bIns="34275" lIns="68575" spcFirstLastPara="1" rIns="68575" wrap="square" tIns="34275">
            <a:noAutofit/>
          </a:bodyPr>
          <a:lstStyle/>
          <a:p>
            <a:pPr indent="0" lvl="0" marL="0" marR="0" rtl="0" algn="l">
              <a:lnSpc>
                <a:spcPct val="90000"/>
              </a:lnSpc>
              <a:spcBef>
                <a:spcPts val="800"/>
              </a:spcBef>
              <a:spcAft>
                <a:spcPts val="0"/>
              </a:spcAft>
              <a:buNone/>
            </a:pPr>
            <a:r>
              <a:rPr lang="nl"/>
              <a:t>Indicators for the success of the TAS</a:t>
            </a:r>
            <a:endParaRPr/>
          </a:p>
          <a:p>
            <a:pPr indent="-317500" lvl="0" marL="457200" marR="0" rtl="0" algn="l">
              <a:lnSpc>
                <a:spcPct val="90000"/>
              </a:lnSpc>
              <a:spcBef>
                <a:spcPts val="800"/>
              </a:spcBef>
              <a:spcAft>
                <a:spcPts val="0"/>
              </a:spcAft>
              <a:buSzPts val="1400"/>
              <a:buChar char="-"/>
            </a:pPr>
            <a:r>
              <a:rPr lang="nl"/>
              <a:t>The number of hours saved on manual tests</a:t>
            </a:r>
            <a:endParaRPr/>
          </a:p>
          <a:p>
            <a:pPr indent="-317500" lvl="0" marL="457200" marR="0" rtl="0" algn="l">
              <a:lnSpc>
                <a:spcPct val="90000"/>
              </a:lnSpc>
              <a:spcBef>
                <a:spcPts val="0"/>
              </a:spcBef>
              <a:spcAft>
                <a:spcPts val="0"/>
              </a:spcAft>
              <a:buSzPts val="1400"/>
              <a:buChar char="-"/>
            </a:pPr>
            <a:r>
              <a:rPr lang="nl"/>
              <a:t>The reduction in time taken for regression test execution</a:t>
            </a:r>
            <a:endParaRPr/>
          </a:p>
          <a:p>
            <a:pPr indent="-317500" lvl="0" marL="457200" marR="0" rtl="0" algn="l">
              <a:lnSpc>
                <a:spcPct val="90000"/>
              </a:lnSpc>
              <a:spcBef>
                <a:spcPts val="0"/>
              </a:spcBef>
              <a:spcAft>
                <a:spcPts val="0"/>
              </a:spcAft>
              <a:buSzPts val="1400"/>
              <a:buChar char="-"/>
            </a:pPr>
            <a:r>
              <a:rPr lang="nl"/>
              <a:t>The number of additional test execution cycles completed</a:t>
            </a:r>
            <a:endParaRPr/>
          </a:p>
          <a:p>
            <a:pPr indent="-317500" lvl="0" marL="457200" marR="0" rtl="0" algn="l">
              <a:lnSpc>
                <a:spcPct val="90000"/>
              </a:lnSpc>
              <a:spcBef>
                <a:spcPts val="0"/>
              </a:spcBef>
              <a:spcAft>
                <a:spcPts val="0"/>
              </a:spcAft>
              <a:buSzPts val="1400"/>
              <a:buChar char="-"/>
            </a:pPr>
            <a:r>
              <a:rPr lang="nl"/>
              <a:t>The percentage of additional tests executed</a:t>
            </a:r>
            <a:endParaRPr/>
          </a:p>
          <a:p>
            <a:pPr indent="-317500" lvl="0" marL="457200" marR="0" rtl="0" algn="l">
              <a:lnSpc>
                <a:spcPct val="90000"/>
              </a:lnSpc>
              <a:spcBef>
                <a:spcPts val="0"/>
              </a:spcBef>
              <a:spcAft>
                <a:spcPts val="0"/>
              </a:spcAft>
              <a:buSzPts val="1400"/>
              <a:buChar char="-"/>
            </a:pPr>
            <a:r>
              <a:rPr lang="nl"/>
              <a:t>The proportion of automated test cases in relation to the total number of test cases</a:t>
            </a:r>
            <a:endParaRPr/>
          </a:p>
          <a:p>
            <a:pPr indent="-317500" lvl="0" marL="457200" marR="0" rtl="0" algn="l">
              <a:lnSpc>
                <a:spcPct val="90000"/>
              </a:lnSpc>
              <a:spcBef>
                <a:spcPts val="0"/>
              </a:spcBef>
              <a:spcAft>
                <a:spcPts val="0"/>
              </a:spcAft>
              <a:buSzPts val="1400"/>
              <a:buChar char="-"/>
            </a:pPr>
            <a:r>
              <a:rPr lang="nl"/>
              <a:t>Any increase in coverage (requirements, functional scope, structural)</a:t>
            </a:r>
            <a:endParaRPr/>
          </a:p>
          <a:p>
            <a:pPr indent="-317500" lvl="0" marL="457200" marR="0" rtl="0" algn="l">
              <a:lnSpc>
                <a:spcPct val="90000"/>
              </a:lnSpc>
              <a:spcBef>
                <a:spcPts val="0"/>
              </a:spcBef>
              <a:spcAft>
                <a:spcPts val="0"/>
              </a:spcAft>
              <a:buSzPts val="1400"/>
              <a:buChar char="-"/>
            </a:pPr>
            <a:r>
              <a:rPr lang="nl"/>
              <a:t>The number of defects found earlier thanks to the TAS</a:t>
            </a:r>
            <a:endParaRPr/>
          </a:p>
          <a:p>
            <a:pPr indent="-317500" lvl="0" marL="457200" marR="0" rtl="0" algn="l">
              <a:lnSpc>
                <a:spcPct val="90000"/>
              </a:lnSpc>
              <a:spcBef>
                <a:spcPts val="0"/>
              </a:spcBef>
              <a:spcAft>
                <a:spcPts val="0"/>
              </a:spcAft>
              <a:buSzPts val="1400"/>
              <a:buChar char="-"/>
            </a:pPr>
            <a:r>
              <a:rPr lang="nl"/>
              <a:t>The number of defects found thanks to the TAS that would not have been found at all through manual testing (for example, reliability defects)</a:t>
            </a:r>
            <a:endParaRPr sz="970">
              <a:solidFill>
                <a:srgbClr val="3D3B49"/>
              </a:solidFill>
              <a:highlight>
                <a:srgbClr val="FFFFFF"/>
              </a:highlight>
              <a:latin typeface="Trebuchet MS"/>
              <a:ea typeface="Trebuchet MS"/>
              <a:cs typeface="Trebuchet MS"/>
              <a:sym typeface="Trebuchet MS"/>
            </a:endParaRPr>
          </a:p>
          <a:p>
            <a:pPr indent="0" lvl="0" marL="457200" rtl="0" algn="l">
              <a:lnSpc>
                <a:spcPct val="165000"/>
              </a:lnSpc>
              <a:spcBef>
                <a:spcPts val="1800"/>
              </a:spcBef>
              <a:spcAft>
                <a:spcPts val="0"/>
              </a:spcAft>
              <a:buSzPts val="523"/>
              <a:buNone/>
            </a:pPr>
            <a:r>
              <a:t/>
            </a:r>
            <a:endParaRPr sz="970">
              <a:solidFill>
                <a:srgbClr val="3D3B49"/>
              </a:solidFill>
              <a:highlight>
                <a:srgbClr val="FFFFFF"/>
              </a:highlight>
              <a:latin typeface="Trebuchet MS"/>
              <a:ea typeface="Trebuchet MS"/>
              <a:cs typeface="Trebuchet MS"/>
              <a:sym typeface="Trebuchet MS"/>
            </a:endParaRPr>
          </a:p>
          <a:p>
            <a:pPr indent="0" lvl="0" marL="0" rtl="0" algn="l">
              <a:lnSpc>
                <a:spcPct val="80000"/>
              </a:lnSpc>
              <a:spcBef>
                <a:spcPts val="1800"/>
              </a:spcBef>
              <a:spcAft>
                <a:spcPts val="0"/>
              </a:spcAft>
              <a:buSzPts val="523"/>
              <a:buNone/>
            </a:pPr>
            <a:r>
              <a:t/>
            </a:r>
            <a:endParaRPr sz="1255">
              <a:latin typeface="Trebuchet MS"/>
              <a:ea typeface="Trebuchet MS"/>
              <a:cs typeface="Trebuchet MS"/>
              <a:sym typeface="Trebuchet M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7"/>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Maven surefire and failsafe plugin</a:t>
            </a:r>
            <a:endParaRPr/>
          </a:p>
        </p:txBody>
      </p:sp>
      <p:sp>
        <p:nvSpPr>
          <p:cNvPr id="260" name="Google Shape;260;p47"/>
          <p:cNvSpPr txBox="1"/>
          <p:nvPr>
            <p:ph idx="1" type="body"/>
          </p:nvPr>
        </p:nvSpPr>
        <p:spPr>
          <a:xfrm>
            <a:off x="628650" y="1369219"/>
            <a:ext cx="7886700" cy="2913900"/>
          </a:xfrm>
          <a:prstGeom prst="rect">
            <a:avLst/>
          </a:prstGeom>
        </p:spPr>
        <p:txBody>
          <a:bodyPr anchorCtr="0" anchor="t" bIns="34275" lIns="68575" spcFirstLastPara="1" rIns="68575" wrap="square" tIns="34275">
            <a:normAutofit/>
          </a:bodyPr>
          <a:lstStyle/>
          <a:p>
            <a:pPr indent="-317500" lvl="0" marL="457200" marR="0" rtl="0" algn="l">
              <a:lnSpc>
                <a:spcPct val="90000"/>
              </a:lnSpc>
              <a:spcBef>
                <a:spcPts val="800"/>
              </a:spcBef>
              <a:spcAft>
                <a:spcPts val="0"/>
              </a:spcAft>
              <a:buSzPts val="1400"/>
              <a:buChar char="-"/>
            </a:pPr>
            <a:r>
              <a:rPr b="1" lang="nl">
                <a:uFill>
                  <a:noFill/>
                </a:uFill>
                <a:hlinkClick r:id="rId3"/>
              </a:rPr>
              <a:t>maven-surefire-plugin</a:t>
            </a:r>
            <a:r>
              <a:rPr lang="nl"/>
              <a:t> is designed for running unit tests and if any of the tests fail then it will fail the build immediately.</a:t>
            </a:r>
            <a:endParaRPr/>
          </a:p>
          <a:p>
            <a:pPr indent="-317500" lvl="0" marL="457200" marR="0" rtl="0" algn="l">
              <a:lnSpc>
                <a:spcPct val="90000"/>
              </a:lnSpc>
              <a:spcBef>
                <a:spcPts val="0"/>
              </a:spcBef>
              <a:spcAft>
                <a:spcPts val="0"/>
              </a:spcAft>
              <a:buSzPts val="1400"/>
              <a:buChar char="-"/>
            </a:pPr>
            <a:r>
              <a:rPr b="1" lang="nl">
                <a:uFill>
                  <a:noFill/>
                </a:uFill>
                <a:hlinkClick r:id="rId4"/>
              </a:rPr>
              <a:t>maven-failsafe-plugin</a:t>
            </a:r>
            <a:r>
              <a:rPr lang="nl"/>
              <a:t> is designed for running integration tests, and decouples failing the build if there are test failures from actually running the tests.</a:t>
            </a:r>
            <a:endParaRPr sz="1050">
              <a:solidFill>
                <a:srgbClr val="333333"/>
              </a:solidFill>
              <a:highlight>
                <a:srgbClr val="FFFFFF"/>
              </a:highlight>
            </a:endParaRPr>
          </a:p>
          <a:p>
            <a:pPr indent="0" lvl="0" marL="0" rtl="0" algn="l">
              <a:spcBef>
                <a:spcPts val="800"/>
              </a:spcBef>
              <a:spcAft>
                <a:spcPts val="0"/>
              </a:spcAft>
              <a:buNone/>
            </a:pPr>
            <a:r>
              <a:t/>
            </a:r>
            <a:endParaRPr sz="900">
              <a:solidFill>
                <a:srgbClr val="1F2328"/>
              </a:solidFill>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8"/>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Maven built-in life cycles</a:t>
            </a:r>
            <a:endParaRPr/>
          </a:p>
        </p:txBody>
      </p:sp>
      <p:sp>
        <p:nvSpPr>
          <p:cNvPr id="266" name="Google Shape;266;p48"/>
          <p:cNvSpPr txBox="1"/>
          <p:nvPr>
            <p:ph idx="1" type="body"/>
          </p:nvPr>
        </p:nvSpPr>
        <p:spPr>
          <a:xfrm>
            <a:off x="628650" y="1369219"/>
            <a:ext cx="7886700" cy="29139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nl"/>
              <a:t>3 build lifecycles: default, clean and site</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graphicFrame>
        <p:nvGraphicFramePr>
          <p:cNvPr id="267" name="Google Shape;267;p48"/>
          <p:cNvGraphicFramePr/>
          <p:nvPr/>
        </p:nvGraphicFramePr>
        <p:xfrm>
          <a:off x="952500" y="2000250"/>
          <a:ext cx="3000000" cy="3000000"/>
        </p:xfrm>
        <a:graphic>
          <a:graphicData uri="http://schemas.openxmlformats.org/drawingml/2006/table">
            <a:tbl>
              <a:tblPr>
                <a:noFill/>
                <a:tableStyleId>{53247AAF-1C8C-4A14-983A-59719AFA9772}</a:tableStyleId>
              </a:tblPr>
              <a:tblGrid>
                <a:gridCol w="1034975"/>
                <a:gridCol w="3791025"/>
                <a:gridCol w="2413000"/>
              </a:tblGrid>
              <a:tr h="381000">
                <a:tc>
                  <a:txBody>
                    <a:bodyPr/>
                    <a:lstStyle/>
                    <a:p>
                      <a:pPr indent="0" lvl="0" marL="0" rtl="0" algn="l">
                        <a:spcBef>
                          <a:spcPts val="0"/>
                        </a:spcBef>
                        <a:spcAft>
                          <a:spcPts val="0"/>
                        </a:spcAft>
                        <a:buNone/>
                      </a:pPr>
                      <a:r>
                        <a:rPr lang="nl"/>
                        <a:t>clean</a:t>
                      </a:r>
                      <a:endParaRPr/>
                    </a:p>
                  </a:txBody>
                  <a:tcPr marT="91425" marB="91425" marR="91425" marL="91425"/>
                </a:tc>
                <a:tc>
                  <a:txBody>
                    <a:bodyPr/>
                    <a:lstStyle/>
                    <a:p>
                      <a:pPr indent="0" lvl="0" marL="0" rtl="0" algn="l">
                        <a:spcBef>
                          <a:spcPts val="0"/>
                        </a:spcBef>
                        <a:spcAft>
                          <a:spcPts val="0"/>
                        </a:spcAft>
                        <a:buNone/>
                      </a:pPr>
                      <a:r>
                        <a:rPr lang="nl"/>
                        <a:t>handles the cleanup of directories and files generated during the build process</a:t>
                      </a:r>
                      <a:endParaRPr/>
                    </a:p>
                  </a:txBody>
                  <a:tcPr marT="91425" marB="91425" marR="91425" marL="91425"/>
                </a:tc>
                <a:tc>
                  <a:txBody>
                    <a:bodyPr/>
                    <a:lstStyle/>
                    <a:p>
                      <a:pPr indent="0" lvl="0" marL="0" rtl="0" algn="l">
                        <a:spcBef>
                          <a:spcPts val="0"/>
                        </a:spcBef>
                        <a:spcAft>
                          <a:spcPts val="0"/>
                        </a:spcAft>
                        <a:buNone/>
                      </a:pPr>
                      <a:r>
                        <a:rPr lang="nl"/>
                        <a:t>mvn clean</a:t>
                      </a:r>
                      <a:endParaRPr/>
                    </a:p>
                  </a:txBody>
                  <a:tcPr marT="91425" marB="91425" marR="91425" marL="91425"/>
                </a:tc>
              </a:tr>
              <a:tr h="381000">
                <a:tc>
                  <a:txBody>
                    <a:bodyPr/>
                    <a:lstStyle/>
                    <a:p>
                      <a:pPr indent="0" lvl="0" marL="0" rtl="0" algn="l">
                        <a:spcBef>
                          <a:spcPts val="0"/>
                        </a:spcBef>
                        <a:spcAft>
                          <a:spcPts val="0"/>
                        </a:spcAft>
                        <a:buNone/>
                      </a:pPr>
                      <a:r>
                        <a:rPr lang="nl"/>
                        <a:t>default</a:t>
                      </a:r>
                      <a:endParaRPr/>
                    </a:p>
                  </a:txBody>
                  <a:tcPr marT="91425" marB="91425" marR="91425" marL="91425"/>
                </a:tc>
                <a:tc>
                  <a:txBody>
                    <a:bodyPr/>
                    <a:lstStyle/>
                    <a:p>
                      <a:pPr indent="0" lvl="0" marL="0" rtl="0" algn="l">
                        <a:spcBef>
                          <a:spcPts val="0"/>
                        </a:spcBef>
                        <a:spcAft>
                          <a:spcPts val="0"/>
                        </a:spcAft>
                        <a:buNone/>
                      </a:pPr>
                      <a:r>
                        <a:rPr lang="nl"/>
                        <a:t>handles the build and distribution of the project</a:t>
                      </a:r>
                      <a:endParaRPr/>
                    </a:p>
                  </a:txBody>
                  <a:tcPr marT="91425" marB="91425" marR="91425" marL="91425"/>
                </a:tc>
                <a:tc>
                  <a:txBody>
                    <a:bodyPr/>
                    <a:lstStyle/>
                    <a:p>
                      <a:pPr indent="0" lvl="0" marL="0" rtl="0" algn="l">
                        <a:spcBef>
                          <a:spcPts val="0"/>
                        </a:spcBef>
                        <a:spcAft>
                          <a:spcPts val="0"/>
                        </a:spcAft>
                        <a:buNone/>
                      </a:pPr>
                      <a:r>
                        <a:rPr lang="nl"/>
                        <a:t>mvn [plugin:goal]* [phase]*</a:t>
                      </a:r>
                      <a:endParaRPr/>
                    </a:p>
                  </a:txBody>
                  <a:tcPr marT="91425" marB="91425" marR="91425" marL="91425"/>
                </a:tc>
              </a:tr>
              <a:tr h="381000">
                <a:tc>
                  <a:txBody>
                    <a:bodyPr/>
                    <a:lstStyle/>
                    <a:p>
                      <a:pPr indent="0" lvl="0" marL="0" rtl="0" algn="l">
                        <a:spcBef>
                          <a:spcPts val="0"/>
                        </a:spcBef>
                        <a:spcAft>
                          <a:spcPts val="0"/>
                        </a:spcAft>
                        <a:buNone/>
                      </a:pPr>
                      <a:r>
                        <a:rPr lang="nl"/>
                        <a:t>site</a:t>
                      </a:r>
                      <a:endParaRPr/>
                    </a:p>
                  </a:txBody>
                  <a:tcPr marT="91425" marB="91425" marR="91425" marL="91425"/>
                </a:tc>
                <a:tc>
                  <a:txBody>
                    <a:bodyPr/>
                    <a:lstStyle/>
                    <a:p>
                      <a:pPr indent="0" lvl="0" marL="0" rtl="0" algn="l">
                        <a:spcBef>
                          <a:spcPts val="0"/>
                        </a:spcBef>
                        <a:spcAft>
                          <a:spcPts val="0"/>
                        </a:spcAft>
                        <a:buNone/>
                      </a:pPr>
                      <a:r>
                        <a:rPr lang="nl"/>
                        <a:t>create project documentation</a:t>
                      </a:r>
                      <a:endParaRPr/>
                    </a:p>
                  </a:txBody>
                  <a:tcPr marT="91425" marB="91425" marR="91425" marL="91425"/>
                </a:tc>
                <a:tc>
                  <a:txBody>
                    <a:bodyPr/>
                    <a:lstStyle/>
                    <a:p>
                      <a:pPr indent="0" lvl="0" marL="0" rtl="0" algn="l">
                        <a:spcBef>
                          <a:spcPts val="0"/>
                        </a:spcBef>
                        <a:spcAft>
                          <a:spcPts val="0"/>
                        </a:spcAft>
                        <a:buNone/>
                      </a:pPr>
                      <a:r>
                        <a:rPr lang="nl"/>
                        <a:t>mvn site</a:t>
                      </a:r>
                      <a:endParaRPr/>
                    </a:p>
                  </a:txBody>
                  <a:tcPr marT="91425" marB="91425" marR="91425" marL="91425"/>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9"/>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A Build Lifecycle Is Made Up Of Phases</a:t>
            </a:r>
            <a:endParaRPr/>
          </a:p>
        </p:txBody>
      </p:sp>
      <p:sp>
        <p:nvSpPr>
          <p:cNvPr id="273" name="Google Shape;273;p49"/>
          <p:cNvSpPr txBox="1"/>
          <p:nvPr>
            <p:ph idx="1" type="body"/>
          </p:nvPr>
        </p:nvSpPr>
        <p:spPr>
          <a:xfrm>
            <a:off x="5547250" y="1369225"/>
            <a:ext cx="2968200" cy="2518800"/>
          </a:xfrm>
          <a:prstGeom prst="rect">
            <a:avLst/>
          </a:prstGeom>
        </p:spPr>
        <p:txBody>
          <a:bodyPr anchorCtr="0" anchor="t" bIns="34275" lIns="68575" spcFirstLastPara="1" rIns="68575" wrap="square" tIns="34275">
            <a:spAutoFit/>
          </a:bodyPr>
          <a:lstStyle/>
          <a:p>
            <a:pPr indent="3600" lvl="0" marL="0" rtl="0" algn="l">
              <a:spcBef>
                <a:spcPts val="800"/>
              </a:spcBef>
              <a:spcAft>
                <a:spcPts val="0"/>
              </a:spcAft>
              <a:buNone/>
            </a:pPr>
            <a:r>
              <a:rPr lang="nl"/>
              <a:t>Each build lifecycle is defined by a sequence of phases.</a:t>
            </a:r>
            <a:endParaRPr/>
          </a:p>
          <a:p>
            <a:pPr indent="3600" lvl="0" marL="0" rtl="0" algn="l">
              <a:spcBef>
                <a:spcPts val="800"/>
              </a:spcBef>
              <a:spcAft>
                <a:spcPts val="0"/>
              </a:spcAft>
              <a:buNone/>
            </a:pPr>
            <a:r>
              <a:rPr lang="nl"/>
              <a:t>Whenever a maven command for any life cycle is invoked, maven executes the phases till and up to the invoked phase.</a:t>
            </a:r>
            <a:endParaRPr/>
          </a:p>
          <a:p>
            <a:pPr indent="3600" lvl="0" marL="0" rtl="0" algn="l">
              <a:spcBef>
                <a:spcPts val="800"/>
              </a:spcBef>
              <a:spcAft>
                <a:spcPts val="0"/>
              </a:spcAft>
              <a:buNone/>
            </a:pPr>
            <a:r>
              <a:rPr lang="nl"/>
              <a:t>$</a:t>
            </a:r>
            <a:r>
              <a:rPr lang="nl">
                <a:solidFill>
                  <a:srgbClr val="FF00FF"/>
                </a:solidFill>
              </a:rPr>
              <a:t>mvn clean install</a:t>
            </a:r>
            <a:endParaRPr>
              <a:solidFill>
                <a:srgbClr val="FF00FF"/>
              </a:solidFill>
            </a:endParaRPr>
          </a:p>
        </p:txBody>
      </p:sp>
      <p:pic>
        <p:nvPicPr>
          <p:cNvPr id="274" name="Google Shape;274;p49"/>
          <p:cNvPicPr preferRelativeResize="0"/>
          <p:nvPr/>
        </p:nvPicPr>
        <p:blipFill>
          <a:blip r:embed="rId3">
            <a:alphaModFix/>
          </a:blip>
          <a:stretch>
            <a:fillRect/>
          </a:stretch>
        </p:blipFill>
        <p:spPr>
          <a:xfrm>
            <a:off x="824150" y="1210225"/>
            <a:ext cx="4248150" cy="3581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50"/>
          <p:cNvPicPr preferRelativeResize="0"/>
          <p:nvPr/>
        </p:nvPicPr>
        <p:blipFill>
          <a:blip r:embed="rId3">
            <a:alphaModFix/>
          </a:blip>
          <a:stretch>
            <a:fillRect/>
          </a:stretch>
        </p:blipFill>
        <p:spPr>
          <a:xfrm>
            <a:off x="872150" y="478101"/>
            <a:ext cx="7153499" cy="40685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1"/>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Plugins and goals</a:t>
            </a:r>
            <a:r>
              <a:rPr lang="nl" sz="1200"/>
              <a:t> (1/2)</a:t>
            </a:r>
            <a:endParaRPr sz="1200"/>
          </a:p>
        </p:txBody>
      </p:sp>
      <p:pic>
        <p:nvPicPr>
          <p:cNvPr id="285" name="Google Shape;285;p51"/>
          <p:cNvPicPr preferRelativeResize="0"/>
          <p:nvPr/>
        </p:nvPicPr>
        <p:blipFill>
          <a:blip r:embed="rId3">
            <a:alphaModFix/>
          </a:blip>
          <a:stretch>
            <a:fillRect/>
          </a:stretch>
        </p:blipFill>
        <p:spPr>
          <a:xfrm>
            <a:off x="1819825" y="1475098"/>
            <a:ext cx="4640276" cy="29001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2"/>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Plugins and goals </a:t>
            </a:r>
            <a:r>
              <a:rPr lang="nl" sz="1200"/>
              <a:t>(2/2)</a:t>
            </a:r>
            <a:endParaRPr sz="1200"/>
          </a:p>
        </p:txBody>
      </p:sp>
      <p:pic>
        <p:nvPicPr>
          <p:cNvPr id="291" name="Google Shape;291;p52"/>
          <p:cNvPicPr preferRelativeResize="0"/>
          <p:nvPr/>
        </p:nvPicPr>
        <p:blipFill>
          <a:blip r:embed="rId3">
            <a:alphaModFix/>
          </a:blip>
          <a:stretch>
            <a:fillRect/>
          </a:stretch>
        </p:blipFill>
        <p:spPr>
          <a:xfrm>
            <a:off x="433900" y="1035025"/>
            <a:ext cx="4607936" cy="41084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3"/>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Demo: Allure Report</a:t>
            </a:r>
            <a:endParaRPr/>
          </a:p>
        </p:txBody>
      </p:sp>
      <p:pic>
        <p:nvPicPr>
          <p:cNvPr id="297" name="Google Shape;297;p53"/>
          <p:cNvPicPr preferRelativeResize="0"/>
          <p:nvPr/>
        </p:nvPicPr>
        <p:blipFill>
          <a:blip r:embed="rId3">
            <a:alphaModFix/>
          </a:blip>
          <a:stretch>
            <a:fillRect/>
          </a:stretch>
        </p:blipFill>
        <p:spPr>
          <a:xfrm>
            <a:off x="3011050" y="992694"/>
            <a:ext cx="5257155" cy="357065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nhoudsdia met afbeelding recht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egindi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Inhoudsdia ">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